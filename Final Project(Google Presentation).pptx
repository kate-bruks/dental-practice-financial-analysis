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5"/>
    <p:sldMasterId id="214748367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Lexend SemiBold"/>
      <p:regular r:id="rId19"/>
      <p:bold r:id="rId20"/>
    </p:embeddedFont>
    <p:embeddedFont>
      <p:font typeface="Helvetica Neue"/>
      <p:regular r:id="rId21"/>
      <p:bold r:id="rId22"/>
      <p:italic r:id="rId23"/>
      <p:boldItalic r:id="rId24"/>
    </p:embeddedFont>
    <p:embeddedFont>
      <p:font typeface="Lexen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42">
          <p15:clr>
            <a:srgbClr val="747775"/>
          </p15:clr>
        </p15:guide>
        <p15:guide id="2" orient="horz" pos="2530">
          <p15:clr>
            <a:srgbClr val="747775"/>
          </p15:clr>
        </p15:guide>
        <p15:guide id="3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13A5F1-0005-496A-BFCE-87083AB42A85}">
  <a:tblStyle styleId="{1813A5F1-0005-496A-BFCE-87083AB42A8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42" orient="horz"/>
        <p:guide pos="253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SemiBold-bold.fntdata"/><Relationship Id="rId22" Type="http://schemas.openxmlformats.org/officeDocument/2006/relationships/font" Target="fonts/HelveticaNeue-bold.fntdata"/><Relationship Id="rId21" Type="http://schemas.openxmlformats.org/officeDocument/2006/relationships/font" Target="fonts/HelveticaNeue-regular.fntdata"/><Relationship Id="rId24" Type="http://schemas.openxmlformats.org/officeDocument/2006/relationships/font" Target="fonts/HelveticaNeue-boldItalic.fntdata"/><Relationship Id="rId23" Type="http://schemas.openxmlformats.org/officeDocument/2006/relationships/font" Target="fonts/HelveticaNeue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Lexend-bold.fntdata"/><Relationship Id="rId25" Type="http://schemas.openxmlformats.org/officeDocument/2006/relationships/font" Target="fonts/Lexend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LexendSemiBold-regular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c30c1edee_0_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6c30c1edee_0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© Copyright </a:t>
            </a:r>
            <a:r>
              <a:rPr b="1" lang="en"/>
              <a:t>PresentationGO.com</a:t>
            </a:r>
            <a:r>
              <a:rPr lang="en"/>
              <a:t> – Free Templates &amp; Infographics for PowerPoint and Google Slides</a:t>
            </a:r>
            <a:endParaRPr/>
          </a:p>
        </p:txBody>
      </p:sp>
      <p:sp>
        <p:nvSpPr>
          <p:cNvPr id="108" name="Google Shape;108;g36c30c1edee_0_2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c37a98c0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c37a98c0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c37a98c0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6c37a98c0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d0fdef67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d0fdef67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c8aba78d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6c8aba78d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d0fdef67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d0fdef67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c30c1ede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6c30c1ede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6c30c1ede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6c30c1ede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6c30c1ede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6c30c1ede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6c37a98c0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6c37a98c0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513608" y="26595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068350" y="2214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7827008" y="407824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" name="Google Shape;36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8"/>
          <p:cNvSpPr txBox="1"/>
          <p:nvPr>
            <p:ph idx="3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8"/>
          <p:cNvSpPr txBox="1"/>
          <p:nvPr>
            <p:ph idx="4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1405224" y="1655600"/>
            <a:ext cx="7331400" cy="500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92400" y="2800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elvetica Neue"/>
              <a:buNone/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575" y="4092725"/>
            <a:ext cx="412125" cy="4121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 flipH="1" rot="10800000">
            <a:off x="-6750" y="0"/>
            <a:ext cx="9157500" cy="5291400"/>
          </a:xfrm>
          <a:prstGeom prst="rect">
            <a:avLst/>
          </a:prstGeom>
          <a:solidFill>
            <a:srgbClr val="FFFFFF">
              <a:alpha val="30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828675" rotWithShape="0" algn="bl" dir="13740000" dist="676275">
              <a:srgbClr val="000000">
                <a:alpha val="80000"/>
              </a:srgbClr>
            </a:outerShdw>
            <a:reflection blurRad="0" dir="5400000" dist="38100" endA="0" endPos="77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068350" y="2214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pngwing.com (6)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472450" y="4636463"/>
            <a:ext cx="447125" cy="4471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10.xml"/><Relationship Id="rId10" Type="http://schemas.openxmlformats.org/officeDocument/2006/relationships/image" Target="../media/image11.png"/><Relationship Id="rId13" Type="http://schemas.openxmlformats.org/officeDocument/2006/relationships/image" Target="../media/image12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8.xml"/><Relationship Id="rId4" Type="http://schemas.openxmlformats.org/officeDocument/2006/relationships/image" Target="../media/image10.png"/><Relationship Id="rId9" Type="http://schemas.openxmlformats.org/officeDocument/2006/relationships/slide" Target="/ppt/slides/slide10.xml"/><Relationship Id="rId14" Type="http://schemas.openxmlformats.org/officeDocument/2006/relationships/image" Target="../media/image2.png"/><Relationship Id="rId5" Type="http://schemas.openxmlformats.org/officeDocument/2006/relationships/slide" Target="/ppt/slides/slide8.xml"/><Relationship Id="rId6" Type="http://schemas.openxmlformats.org/officeDocument/2006/relationships/image" Target="../media/image24.png"/><Relationship Id="rId7" Type="http://schemas.openxmlformats.org/officeDocument/2006/relationships/slide" Target="/ppt/slides/slide9.xml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32.png"/><Relationship Id="rId7" Type="http://schemas.openxmlformats.org/officeDocument/2006/relationships/image" Target="../media/image17.png"/><Relationship Id="rId8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Relationship Id="rId7" Type="http://schemas.openxmlformats.org/officeDocument/2006/relationships/image" Target="../media/image27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slide" Target="/ppt/slides/slide1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slide" Target="/ppt/slides/slide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3.png"/><Relationship Id="rId4" Type="http://schemas.openxmlformats.org/officeDocument/2006/relationships/slide" Target="/ppt/slides/slide2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" Target="/ppt/slides/slide2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4"/>
          <p:cNvSpPr/>
          <p:nvPr/>
        </p:nvSpPr>
        <p:spPr>
          <a:xfrm>
            <a:off x="381575" y="83025"/>
            <a:ext cx="5914800" cy="918300"/>
          </a:xfrm>
          <a:prstGeom prst="roundRect">
            <a:avLst>
              <a:gd fmla="val 16667" name="adj"/>
            </a:avLst>
          </a:prstGeom>
          <a:solidFill>
            <a:srgbClr val="EEEEEE">
              <a:alpha val="7625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028700" rotWithShape="0" algn="bl" dir="6000000" dist="28575">
              <a:srgbClr val="000000">
                <a:alpha val="20000"/>
              </a:srgbClr>
            </a:outerShdw>
            <a:reflection blurRad="0" dir="5400000" dist="361950" endA="0" endPos="30000" fadeDir="5400012" kx="0" rotWithShape="0" algn="bl" stA="9300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4"/>
          <p:cNvSpPr txBox="1"/>
          <p:nvPr>
            <p:ph type="ctrTitle"/>
          </p:nvPr>
        </p:nvSpPr>
        <p:spPr>
          <a:xfrm>
            <a:off x="-42200" y="207575"/>
            <a:ext cx="6175800" cy="9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rgbClr val="2596A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Mint Dental Care</a:t>
            </a:r>
            <a:endParaRPr sz="4700">
              <a:solidFill>
                <a:srgbClr val="2596AC"/>
              </a:solidFill>
            </a:endParaRPr>
          </a:p>
        </p:txBody>
      </p:sp>
      <p:sp>
        <p:nvSpPr>
          <p:cNvPr id="103" name="Google Shape;103;p24"/>
          <p:cNvSpPr txBox="1"/>
          <p:nvPr>
            <p:ph idx="1" type="subTitle"/>
          </p:nvPr>
        </p:nvSpPr>
        <p:spPr>
          <a:xfrm>
            <a:off x="494700" y="1291775"/>
            <a:ext cx="5285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lang="en" sz="142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Jahresanalyse der Zahnarztpraxis und Wachstumshypothesen 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104" name="Google Shape;104;p24" title="pngwing.com (6).png"/>
          <p:cNvPicPr preferRelativeResize="0"/>
          <p:nvPr/>
        </p:nvPicPr>
        <p:blipFill rotWithShape="1">
          <a:blip r:embed="rId3">
            <a:alphaModFix/>
          </a:blip>
          <a:srcRect b="-6830" l="3900" r="-3900" t="6830"/>
          <a:stretch/>
        </p:blipFill>
        <p:spPr>
          <a:xfrm>
            <a:off x="5185225" y="207576"/>
            <a:ext cx="725550" cy="72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/>
          <p:nvPr/>
        </p:nvSpPr>
        <p:spPr>
          <a:xfrm>
            <a:off x="671533" y="2246007"/>
            <a:ext cx="1185000" cy="954000"/>
          </a:xfrm>
          <a:prstGeom prst="ellipse">
            <a:avLst/>
          </a:prstGeom>
          <a:gradFill>
            <a:gsLst>
              <a:gs pos="0">
                <a:srgbClr val="2596AC"/>
              </a:gs>
              <a:gs pos="100000">
                <a:srgbClr val="F8583E"/>
              </a:gs>
              <a:gs pos="100000">
                <a:srgbClr val="E3462C"/>
              </a:gs>
            </a:gsLst>
            <a:lin ang="5400012" scaled="0"/>
          </a:gra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5"/>
          <p:cNvSpPr/>
          <p:nvPr/>
        </p:nvSpPr>
        <p:spPr>
          <a:xfrm>
            <a:off x="447348" y="2039943"/>
            <a:ext cx="1633500" cy="1314900"/>
          </a:xfrm>
          <a:prstGeom prst="arc">
            <a:avLst>
              <a:gd fmla="val 10811881" name="adj1"/>
              <a:gd fmla="val 0" name="adj2"/>
            </a:avLst>
          </a:prstGeom>
          <a:noFill/>
          <a:ln cap="rnd" cmpd="sng" w="28575">
            <a:solidFill>
              <a:srgbClr val="2596AC"/>
            </a:solidFill>
            <a:prstDash val="solid"/>
            <a:miter lim="800000"/>
            <a:headEnd len="sm" w="sm" type="none"/>
            <a:tailEnd len="med" w="med" type="triangle"/>
          </a:ln>
          <a:effectLst>
            <a:outerShdw blurRad="957263" rotWithShape="0" algn="bl" dir="5400000" dist="447675">
              <a:srgbClr val="000000">
                <a:alpha val="34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5"/>
          <p:cNvSpPr/>
          <p:nvPr/>
        </p:nvSpPr>
        <p:spPr>
          <a:xfrm>
            <a:off x="2305038" y="2220414"/>
            <a:ext cx="1185000" cy="954000"/>
          </a:xfrm>
          <a:prstGeom prst="ellipse">
            <a:avLst/>
          </a:prstGeom>
          <a:gradFill>
            <a:gsLst>
              <a:gs pos="0">
                <a:srgbClr val="2596AC"/>
              </a:gs>
              <a:gs pos="98000">
                <a:srgbClr val="FEAA12"/>
              </a:gs>
              <a:gs pos="100000">
                <a:srgbClr val="E39903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5"/>
          <p:cNvSpPr/>
          <p:nvPr/>
        </p:nvSpPr>
        <p:spPr>
          <a:xfrm>
            <a:off x="2080853" y="2039943"/>
            <a:ext cx="1633500" cy="1314900"/>
          </a:xfrm>
          <a:prstGeom prst="arc">
            <a:avLst>
              <a:gd fmla="val 5859" name="adj1"/>
              <a:gd fmla="val 10415524" name="adj2"/>
            </a:avLst>
          </a:prstGeom>
          <a:noFill/>
          <a:ln cap="rnd" cmpd="sng" w="28575">
            <a:solidFill>
              <a:srgbClr val="FEB14C"/>
            </a:solidFill>
            <a:prstDash val="solid"/>
            <a:miter lim="800000"/>
            <a:headEnd len="med" w="med" type="triangl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5"/>
          <p:cNvSpPr/>
          <p:nvPr/>
        </p:nvSpPr>
        <p:spPr>
          <a:xfrm>
            <a:off x="3938545" y="2220414"/>
            <a:ext cx="1185000" cy="954000"/>
          </a:xfrm>
          <a:prstGeom prst="ellipse">
            <a:avLst/>
          </a:prstGeom>
          <a:gradFill>
            <a:gsLst>
              <a:gs pos="0">
                <a:srgbClr val="042326"/>
              </a:gs>
              <a:gs pos="100000">
                <a:srgbClr val="6BA769"/>
              </a:gs>
              <a:gs pos="100000">
                <a:srgbClr val="5B9659"/>
              </a:gs>
            </a:gsLst>
            <a:lin ang="5400012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5"/>
          <p:cNvSpPr/>
          <p:nvPr/>
        </p:nvSpPr>
        <p:spPr>
          <a:xfrm>
            <a:off x="3714360" y="2039943"/>
            <a:ext cx="1633500" cy="1314900"/>
          </a:xfrm>
          <a:prstGeom prst="arc">
            <a:avLst>
              <a:gd fmla="val 11286706" name="adj1"/>
              <a:gd fmla="val 0" name="adj2"/>
            </a:avLst>
          </a:prstGeom>
          <a:noFill/>
          <a:ln cap="rnd" cmpd="sng" w="28575">
            <a:solidFill>
              <a:srgbClr val="7EAE7D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5"/>
          <p:cNvSpPr/>
          <p:nvPr/>
        </p:nvSpPr>
        <p:spPr>
          <a:xfrm>
            <a:off x="5572050" y="2220414"/>
            <a:ext cx="1185000" cy="954000"/>
          </a:xfrm>
          <a:prstGeom prst="ellipse">
            <a:avLst/>
          </a:prstGeom>
          <a:gradFill>
            <a:gsLst>
              <a:gs pos="0">
                <a:srgbClr val="042326"/>
              </a:gs>
              <a:gs pos="100000">
                <a:srgbClr val="31CBE9"/>
              </a:gs>
              <a:gs pos="100000">
                <a:srgbClr val="21B9D6"/>
              </a:gs>
            </a:gsLst>
            <a:lin ang="5400012" scaled="0"/>
          </a:grad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5"/>
          <p:cNvSpPr/>
          <p:nvPr/>
        </p:nvSpPr>
        <p:spPr>
          <a:xfrm>
            <a:off x="5347865" y="2039943"/>
            <a:ext cx="1633500" cy="1314900"/>
          </a:xfrm>
          <a:prstGeom prst="arc">
            <a:avLst>
              <a:gd fmla="val 5859" name="adj1"/>
              <a:gd fmla="val 10447029" name="adj2"/>
            </a:avLst>
          </a:prstGeom>
          <a:noFill/>
          <a:ln cap="rnd" cmpd="sng" w="28575">
            <a:solidFill>
              <a:srgbClr val="59CCE5"/>
            </a:solidFill>
            <a:prstDash val="solid"/>
            <a:miter lim="800000"/>
            <a:headEnd len="med" w="med" type="triangl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5"/>
          <p:cNvSpPr/>
          <p:nvPr/>
        </p:nvSpPr>
        <p:spPr>
          <a:xfrm>
            <a:off x="7205554" y="2220414"/>
            <a:ext cx="1185000" cy="954000"/>
          </a:xfrm>
          <a:prstGeom prst="ellipse">
            <a:avLst/>
          </a:prstGeom>
          <a:gradFill>
            <a:gsLst>
              <a:gs pos="0">
                <a:srgbClr val="042326"/>
              </a:gs>
              <a:gs pos="73000">
                <a:srgbClr val="204372"/>
              </a:gs>
              <a:gs pos="100000">
                <a:srgbClr val="183A68"/>
              </a:gs>
            </a:gsLst>
            <a:lin ang="5400012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5"/>
          <p:cNvSpPr/>
          <p:nvPr/>
        </p:nvSpPr>
        <p:spPr>
          <a:xfrm>
            <a:off x="6981370" y="2039943"/>
            <a:ext cx="1633500" cy="1314900"/>
          </a:xfrm>
          <a:prstGeom prst="arc">
            <a:avLst>
              <a:gd fmla="val 11332468" name="adj1"/>
              <a:gd fmla="val 0" name="adj2"/>
            </a:avLst>
          </a:prstGeom>
          <a:noFill/>
          <a:ln cap="rnd" cmpd="sng" w="28575">
            <a:solidFill>
              <a:srgbClr val="042326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820207" y="2340098"/>
            <a:ext cx="887700" cy="7146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2F2F2"/>
              </a:gs>
              <a:gs pos="100000">
                <a:srgbClr val="D8D8D8"/>
              </a:gs>
            </a:gsLst>
            <a:lin ang="5400012" scaled="0"/>
          </a:gradFill>
          <a:ln>
            <a:noFill/>
          </a:ln>
          <a:effectLst>
            <a:outerShdw blurRad="114300" rotWithShape="0" algn="ctr" dir="5400000" dist="25400">
              <a:srgbClr val="000000">
                <a:alpha val="4196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5"/>
          <p:cNvSpPr/>
          <p:nvPr/>
        </p:nvSpPr>
        <p:spPr>
          <a:xfrm>
            <a:off x="2453712" y="2340098"/>
            <a:ext cx="887700" cy="7146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2F2F2"/>
              </a:gs>
              <a:gs pos="100000">
                <a:srgbClr val="D8D8D8"/>
              </a:gs>
            </a:gsLst>
            <a:lin ang="5400012" scaled="0"/>
          </a:gradFill>
          <a:ln>
            <a:noFill/>
          </a:ln>
          <a:effectLst>
            <a:outerShdw blurRad="114300" rotWithShape="0" algn="ctr" dir="5400000" dist="25400">
              <a:srgbClr val="000000">
                <a:alpha val="4196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5"/>
          <p:cNvSpPr/>
          <p:nvPr/>
        </p:nvSpPr>
        <p:spPr>
          <a:xfrm>
            <a:off x="4087218" y="2340098"/>
            <a:ext cx="887700" cy="7146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2F2F2"/>
              </a:gs>
              <a:gs pos="100000">
                <a:srgbClr val="D8D8D8"/>
              </a:gs>
            </a:gsLst>
            <a:lin ang="5400012" scaled="0"/>
          </a:gradFill>
          <a:ln>
            <a:noFill/>
          </a:ln>
          <a:effectLst>
            <a:outerShdw blurRad="114300" rotWithShape="0" algn="ctr" dir="5400000" dist="25400">
              <a:srgbClr val="000000">
                <a:alpha val="4196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5"/>
          <p:cNvSpPr/>
          <p:nvPr/>
        </p:nvSpPr>
        <p:spPr>
          <a:xfrm>
            <a:off x="5720723" y="2340098"/>
            <a:ext cx="887700" cy="7146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2F2F2"/>
              </a:gs>
              <a:gs pos="100000">
                <a:srgbClr val="D8D8D8"/>
              </a:gs>
            </a:gsLst>
            <a:lin ang="5400012" scaled="0"/>
          </a:gradFill>
          <a:ln>
            <a:noFill/>
          </a:ln>
          <a:effectLst>
            <a:outerShdw blurRad="114300" rotWithShape="0" algn="ctr" dir="5400000" dist="25400">
              <a:srgbClr val="000000">
                <a:alpha val="4196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5"/>
          <p:cNvSpPr/>
          <p:nvPr/>
        </p:nvSpPr>
        <p:spPr>
          <a:xfrm>
            <a:off x="7354228" y="2340098"/>
            <a:ext cx="887700" cy="7146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2F2F2"/>
              </a:gs>
              <a:gs pos="100000">
                <a:srgbClr val="D8D8D8"/>
              </a:gs>
            </a:gsLst>
            <a:lin ang="5400012" scaled="0"/>
          </a:gradFill>
          <a:ln>
            <a:noFill/>
          </a:ln>
          <a:effectLst>
            <a:outerShdw blurRad="114300" rotWithShape="0" algn="ctr" dir="5400000" dist="25400">
              <a:srgbClr val="000000">
                <a:alpha val="4196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25"/>
          <p:cNvGrpSpPr/>
          <p:nvPr/>
        </p:nvGrpSpPr>
        <p:grpSpPr>
          <a:xfrm>
            <a:off x="319397" y="3384343"/>
            <a:ext cx="2075554" cy="1205945"/>
            <a:chOff x="-1970830" y="3084556"/>
            <a:chExt cx="2926200" cy="1491030"/>
          </a:xfrm>
        </p:grpSpPr>
        <p:sp>
          <p:nvSpPr>
            <p:cNvPr id="126" name="Google Shape;126;p25"/>
            <p:cNvSpPr txBox="1"/>
            <p:nvPr/>
          </p:nvSpPr>
          <p:spPr>
            <a:xfrm>
              <a:off x="-1970830" y="3084556"/>
              <a:ext cx="2926200" cy="80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4275" lIns="0" spcFirstLastPara="1" rIns="0" wrap="square" tIns="34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" sz="1000">
                  <a:solidFill>
                    <a:srgbClr val="E0666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Einnahmen- und Ausgabenentwicklung </a:t>
              </a:r>
              <a:endParaRPr sz="300">
                <a:solidFill>
                  <a:srgbClr val="E0666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E0666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27" name="Google Shape;127;p25"/>
            <p:cNvSpPr txBox="1"/>
            <p:nvPr/>
          </p:nvSpPr>
          <p:spPr>
            <a:xfrm>
              <a:off x="-1970830" y="3538486"/>
              <a:ext cx="2926200" cy="10371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E06666">
                  <a:alpha val="50000"/>
                </a:srgbClr>
              </a:outerShdw>
            </a:effectLst>
          </p:spPr>
          <p:txBody>
            <a:bodyPr anchorCtr="0" anchor="b" bIns="34275" lIns="0" spcFirstLastPara="1" rIns="0" wrap="square" tIns="34275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9595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Perioden 1–5: Verluste (max. –33.434 €).</a:t>
              </a:r>
              <a:endParaRPr sz="1000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9595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Ab Periode 6: Stabilisierung, in Periode 12 erster Gewinn (3.382 €).</a:t>
              </a:r>
              <a:endParaRPr sz="1000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9595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Trend: Weg in die Gewinnzone.</a:t>
              </a:r>
              <a:endParaRPr sz="1000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28" name="Google Shape;128;p25"/>
          <p:cNvGrpSpPr/>
          <p:nvPr/>
        </p:nvGrpSpPr>
        <p:grpSpPr>
          <a:xfrm>
            <a:off x="3384902" y="3326376"/>
            <a:ext cx="2206654" cy="1852583"/>
            <a:chOff x="-1117191" y="3132256"/>
            <a:chExt cx="2926209" cy="3622572"/>
          </a:xfrm>
        </p:grpSpPr>
        <p:sp>
          <p:nvSpPr>
            <p:cNvPr id="129" name="Google Shape;129;p25"/>
            <p:cNvSpPr txBox="1"/>
            <p:nvPr/>
          </p:nvSpPr>
          <p:spPr>
            <a:xfrm>
              <a:off x="-1117191" y="3132256"/>
              <a:ext cx="2926200" cy="100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4275" lIns="0" spcFirstLastPara="1" rIns="0" wrap="square" tIns="3427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b="1" lang="en" sz="1100">
                  <a:solidFill>
                    <a:srgbClr val="7EAE7D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Patientenanzahl pro Arzt </a:t>
              </a:r>
              <a:endParaRPr sz="1100">
                <a:solidFill>
                  <a:srgbClr val="7EAE7D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4F7E4D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0" name="Google Shape;130;p25"/>
            <p:cNvSpPr txBox="1"/>
            <p:nvPr/>
          </p:nvSpPr>
          <p:spPr>
            <a:xfrm>
              <a:off x="-1117182" y="3985827"/>
              <a:ext cx="2926200" cy="27690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93C47D">
                  <a:alpha val="50000"/>
                </a:srgbClr>
              </a:outerShdw>
            </a:effectLst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Mit 4 Ärzten hat sich die Auslastung eingependelt. Bei steigenden Patientenzahlen könnte eine Erweiterung des Teams erforderlich werden. </a:t>
              </a:r>
              <a:endPara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just"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t/>
              </a:r>
              <a:endParaRPr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25"/>
          <p:cNvGrpSpPr/>
          <p:nvPr/>
        </p:nvGrpSpPr>
        <p:grpSpPr>
          <a:xfrm>
            <a:off x="6757049" y="3354856"/>
            <a:ext cx="2028149" cy="1554580"/>
            <a:chOff x="39032" y="3148060"/>
            <a:chExt cx="2926200" cy="2529005"/>
          </a:xfrm>
        </p:grpSpPr>
        <p:sp>
          <p:nvSpPr>
            <p:cNvPr id="132" name="Google Shape;132;p25"/>
            <p:cNvSpPr txBox="1"/>
            <p:nvPr/>
          </p:nvSpPr>
          <p:spPr>
            <a:xfrm>
              <a:off x="39032" y="3148060"/>
              <a:ext cx="2926200" cy="66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4275" lIns="0" spcFirstLastPara="1" rIns="0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42326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Gesamtzahl der Anfragen und Besuche </a:t>
              </a:r>
              <a:endParaRPr sz="1100">
                <a:solidFill>
                  <a:srgbClr val="042326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3" name="Google Shape;133;p25"/>
            <p:cNvSpPr txBox="1"/>
            <p:nvPr/>
          </p:nvSpPr>
          <p:spPr>
            <a:xfrm>
              <a:off x="39032" y="3811666"/>
              <a:ext cx="2926200" cy="18654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24059">
                  <a:alpha val="50000"/>
                </a:srgbClr>
              </a:outerShdw>
            </a:effectLst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9595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Das Patientenwachstum im 1. und 2. Quartal hat die 2 Ärzte überlastet. Nach der Einstellung von 2 weiteren Ärzten sank die Belastung, bleibt aber weiterhin hoch. Im 5. Quartal wird ein weiterer Arzt benötigt. </a:t>
              </a:r>
              <a:endParaRPr sz="12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34" name="Google Shape;134;p25"/>
          <p:cNvGrpSpPr/>
          <p:nvPr/>
        </p:nvGrpSpPr>
        <p:grpSpPr>
          <a:xfrm>
            <a:off x="1791485" y="746930"/>
            <a:ext cx="2266936" cy="1257392"/>
            <a:chOff x="332769" y="2132114"/>
            <a:chExt cx="2926211" cy="2045538"/>
          </a:xfrm>
        </p:grpSpPr>
        <p:sp>
          <p:nvSpPr>
            <p:cNvPr id="135" name="Google Shape;135;p25"/>
            <p:cNvSpPr txBox="1"/>
            <p:nvPr/>
          </p:nvSpPr>
          <p:spPr>
            <a:xfrm>
              <a:off x="332769" y="2132114"/>
              <a:ext cx="2926200" cy="38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4275" lIns="0" spcFirstLastPara="1" rIns="0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CF8303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Gesamtertrag </a:t>
              </a:r>
              <a:endParaRPr sz="11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6" name="Google Shape;136;p25"/>
            <p:cNvSpPr txBox="1"/>
            <p:nvPr/>
          </p:nvSpPr>
          <p:spPr>
            <a:xfrm>
              <a:off x="332780" y="2562452"/>
              <a:ext cx="2926200" cy="1615200"/>
            </a:xfrm>
            <a:prstGeom prst="rect">
              <a:avLst/>
            </a:prstGeom>
            <a:noFill/>
            <a:ln>
              <a:noFill/>
            </a:ln>
            <a:effectLst>
              <a:outerShdw blurRad="728663" rotWithShape="0" algn="bl" dir="11040000" dist="19050">
                <a:srgbClr val="CF8303">
                  <a:alpha val="49000"/>
                </a:srgbClr>
              </a:outerShdw>
            </a:effectLst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9595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Die Verluste erreichten –73.940 €, aber die Gewinne in den Perioden 6 und 12 reduzierten sie auf –70.558 €. Das Unternehmen schreibt weiterhin rote Zahlen, aber die Verluste verringern sich. </a:t>
              </a:r>
              <a:endParaRPr sz="1000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137" name="Google Shape;137;p25"/>
          <p:cNvGrpSpPr/>
          <p:nvPr/>
        </p:nvGrpSpPr>
        <p:grpSpPr>
          <a:xfrm>
            <a:off x="5082960" y="791892"/>
            <a:ext cx="2234446" cy="967142"/>
            <a:chOff x="332936" y="2627766"/>
            <a:chExt cx="2926200" cy="1573356"/>
          </a:xfrm>
        </p:grpSpPr>
        <p:sp>
          <p:nvSpPr>
            <p:cNvPr id="138" name="Google Shape;138;p25"/>
            <p:cNvSpPr txBox="1"/>
            <p:nvPr/>
          </p:nvSpPr>
          <p:spPr>
            <a:xfrm>
              <a:off x="332936" y="2627766"/>
              <a:ext cx="2926200" cy="66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34275" lIns="0" spcFirstLastPara="1" rIns="0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C9EB8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Behandlungseinnahmen nach Ärzten </a:t>
              </a:r>
              <a:endParaRPr sz="4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39" name="Google Shape;139;p25"/>
            <p:cNvSpPr txBox="1"/>
            <p:nvPr/>
          </p:nvSpPr>
          <p:spPr>
            <a:xfrm>
              <a:off x="332936" y="3086922"/>
              <a:ext cx="2926200" cy="11142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chemeClr val="lt2">
                  <a:alpha val="50000"/>
                </a:schemeClr>
              </a:outerShdw>
            </a:effectLst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59595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Seit der 6. Periode sind 4 Ärzte in der Praxis tätig, die Arbeitslast ist gleichmäßig verteilt — das Team arbeitet stabil. </a:t>
              </a:r>
              <a:endParaRPr sz="1000"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140" name="Google Shape;140;p25"/>
          <p:cNvSpPr/>
          <p:nvPr/>
        </p:nvSpPr>
        <p:spPr>
          <a:xfrm>
            <a:off x="1042700" y="97200"/>
            <a:ext cx="7058700" cy="580200"/>
          </a:xfrm>
          <a:prstGeom prst="roundRect">
            <a:avLst>
              <a:gd fmla="val 16667" name="adj"/>
            </a:avLst>
          </a:prstGeom>
          <a:solidFill>
            <a:srgbClr val="FFFFFF">
              <a:alpha val="30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71525" rotWithShape="0" algn="bl" dir="6180000" dist="171450">
              <a:srgbClr val="000000">
                <a:alpha val="41000"/>
              </a:srgbClr>
            </a:outerShdw>
            <a:reflection blurRad="0" dir="5400000" dist="36195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>
            <p:ph idx="4294967295" type="ctrTitle"/>
          </p:nvPr>
        </p:nvSpPr>
        <p:spPr>
          <a:xfrm>
            <a:off x="820200" y="135825"/>
            <a:ext cx="7131600" cy="611100"/>
          </a:xfrm>
          <a:prstGeom prst="rect">
            <a:avLst/>
          </a:prstGeom>
          <a:effectLst>
            <a:outerShdw blurRad="14288" rotWithShape="0" algn="bl">
              <a:srgbClr val="000000">
                <a:alpha val="46000"/>
              </a:srgbClr>
            </a:outerShdw>
            <a:reflection blurRad="0" dir="0" dist="0" endA="0" fadeDir="5400012" kx="0" rotWithShape="0" algn="bl" stA="0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30">
                <a:solidFill>
                  <a:srgbClr val="2596A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Hauptleistungskennzahlen der Praxis im Jahresüberblick </a:t>
            </a:r>
            <a:endParaRPr sz="2030">
              <a:solidFill>
                <a:srgbClr val="2596AC"/>
              </a:solidFill>
            </a:endParaRPr>
          </a:p>
        </p:txBody>
      </p:sp>
      <p:pic>
        <p:nvPicPr>
          <p:cNvPr id="142" name="Google Shape;142;p25" title="pngwing.com (7).png">
            <a:hlinkClick action="ppaction://hlinksldjump"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1625" y="2498191"/>
            <a:ext cx="744822" cy="44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 title="pngwing.com (8).png">
            <a:hlinkClick action="ppaction://hlinksldjump"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86511" y="2472598"/>
            <a:ext cx="622195" cy="500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5" title="pngwing.com (9).png">
            <a:hlinkClick action="ppaction://hlinksldjump"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87315" y="2340106"/>
            <a:ext cx="887626" cy="714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5" title="pngwing.com (10).png">
            <a:hlinkClick action="ppaction://hlinksldjump"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26586" y="2498195"/>
            <a:ext cx="676076" cy="44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5" title="pngwing.com (11).png">
            <a:hlinkClick action="ppaction://hlinksldjump"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02800" y="2459606"/>
            <a:ext cx="590736" cy="475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 title="pngwing.com (12)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638400" y="171050"/>
            <a:ext cx="432500" cy="43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 txBox="1"/>
          <p:nvPr/>
        </p:nvSpPr>
        <p:spPr>
          <a:xfrm>
            <a:off x="1275725" y="341850"/>
            <a:ext cx="382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9" name="Google Shape;149;p25" title="pngwing.com (6)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472450" y="4636463"/>
            <a:ext cx="447125" cy="4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Google Shape;154;p26"/>
          <p:cNvGraphicFramePr/>
          <p:nvPr/>
        </p:nvGraphicFramePr>
        <p:xfrm>
          <a:off x="341450" y="398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{1813A5F1-0005-496A-BFCE-87083AB42A85}</a:tableStyleId>
              </a:tblPr>
              <a:tblGrid>
                <a:gridCol w="660775"/>
                <a:gridCol w="660775"/>
                <a:gridCol w="660775"/>
                <a:gridCol w="660775"/>
                <a:gridCol w="660775"/>
                <a:gridCol w="660775"/>
                <a:gridCol w="660775"/>
                <a:gridCol w="660775"/>
                <a:gridCol w="660775"/>
                <a:gridCol w="660775"/>
                <a:gridCol w="660775"/>
                <a:gridCol w="660775"/>
                <a:gridCol w="660775"/>
              </a:tblGrid>
              <a:tr h="18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</a:rPr>
                        <a:t>Requests</a:t>
                      </a:r>
                      <a:endParaRPr b="1"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78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233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</a:rPr>
                        <a:t>247</a:t>
                      </a:r>
                      <a:endParaRPr b="1"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438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447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</a:rPr>
                        <a:t>514</a:t>
                      </a:r>
                      <a:endParaRPr b="1"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346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455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</a:rPr>
                        <a:t>479</a:t>
                      </a:r>
                      <a:endParaRPr b="1"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391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417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452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</a:tr>
              <a:tr h="184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</a:rPr>
                        <a:t>Visits</a:t>
                      </a:r>
                      <a:endParaRPr b="1"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78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233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240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240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240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240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346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360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360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391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417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73763"/>
                          </a:solidFill>
                        </a:rPr>
                        <a:t>452</a:t>
                      </a:r>
                      <a:endParaRPr sz="1000">
                        <a:solidFill>
                          <a:srgbClr val="073763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5" name="Google Shape;155;p26"/>
          <p:cNvGraphicFramePr/>
          <p:nvPr/>
        </p:nvGraphicFramePr>
        <p:xfrm>
          <a:off x="341438" y="372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{1813A5F1-0005-496A-BFCE-87083AB42A85}</a:tableStyleId>
              </a:tblPr>
              <a:tblGrid>
                <a:gridCol w="660775"/>
                <a:gridCol w="660775"/>
                <a:gridCol w="660775"/>
                <a:gridCol w="660775"/>
                <a:gridCol w="660775"/>
                <a:gridCol w="660775"/>
                <a:gridCol w="660775"/>
                <a:gridCol w="660775"/>
                <a:gridCol w="660775"/>
                <a:gridCol w="660775"/>
                <a:gridCol w="660775"/>
                <a:gridCol w="660775"/>
                <a:gridCol w="6607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Period</a:t>
                      </a:r>
                      <a:endParaRPr b="1" sz="11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b="1" sz="10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b="1" sz="10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b="1" sz="10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b="1" sz="10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b="1" sz="10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b="1" sz="10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</a:t>
                      </a:r>
                      <a:endParaRPr b="1" sz="10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</a:t>
                      </a:r>
                      <a:endParaRPr b="1" sz="10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</a:t>
                      </a:r>
                      <a:endParaRPr b="1" sz="10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</a:t>
                      </a:r>
                      <a:endParaRPr b="1" sz="10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11</a:t>
                      </a:r>
                      <a:endParaRPr b="1" sz="10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12</a:t>
                      </a:r>
                      <a:endParaRPr b="1" sz="10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26"/>
          <p:cNvSpPr/>
          <p:nvPr/>
        </p:nvSpPr>
        <p:spPr>
          <a:xfrm>
            <a:off x="377275" y="601225"/>
            <a:ext cx="3977700" cy="1817100"/>
          </a:xfrm>
          <a:prstGeom prst="roundRect">
            <a:avLst>
              <a:gd fmla="val 16667" name="adj"/>
            </a:avLst>
          </a:prstGeom>
          <a:solidFill>
            <a:srgbClr val="FFFFFF">
              <a:alpha val="30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1071563" rotWithShape="0" algn="bl" dir="15840000" dist="323850">
              <a:schemeClr val="accent6">
                <a:alpha val="34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Die Datenanalyse hat gezeigt, dass die Praxis gegen Ende jedes Quartals aufgrund von Personalmangel an ihre Kapazitätsgrenzen stieß </a:t>
            </a:r>
            <a:endParaRPr b="1" sz="11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Die Anzahl der Anfragen überstieg konstant die Betreuungskapazitäten, weshalb ein Teil der Patienten nicht rechtzeitig behandelt werden konnte. Dies führte zu Kundenverlusten und entgangenen Umsätzen. </a:t>
            </a:r>
            <a:endParaRPr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7" name="Google Shape;157;p26" title="Flux_Dev_A_modern_dental_clinic_office_A_laptop_on_the_desk_di_1.JPG – копія_batcheditor_fo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9550" y="0"/>
            <a:ext cx="3694500" cy="3372300"/>
          </a:xfrm>
          <a:prstGeom prst="teardrop">
            <a:avLst>
              <a:gd fmla="val 100000" name="adj"/>
            </a:avLst>
          </a:prstGeom>
          <a:noFill/>
          <a:ln>
            <a:noFill/>
          </a:ln>
          <a:effectLst>
            <a:outerShdw blurRad="257175" rotWithShape="0" algn="bl" dir="6120000" dist="381000">
              <a:schemeClr val="accent3">
                <a:alpha val="73000"/>
              </a:schemeClr>
            </a:outerShdw>
          </a:effectLst>
        </p:spPr>
      </p:pic>
      <p:cxnSp>
        <p:nvCxnSpPr>
          <p:cNvPr id="158" name="Google Shape;158;p26"/>
          <p:cNvCxnSpPr/>
          <p:nvPr/>
        </p:nvCxnSpPr>
        <p:spPr>
          <a:xfrm>
            <a:off x="2384350" y="2425900"/>
            <a:ext cx="351000" cy="15612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6"/>
          <p:cNvCxnSpPr>
            <a:stCxn id="156" idx="2"/>
          </p:cNvCxnSpPr>
          <p:nvPr/>
        </p:nvCxnSpPr>
        <p:spPr>
          <a:xfrm>
            <a:off x="2366125" y="2418325"/>
            <a:ext cx="4394100" cy="15903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6"/>
          <p:cNvCxnSpPr>
            <a:stCxn id="156" idx="2"/>
          </p:cNvCxnSpPr>
          <p:nvPr/>
        </p:nvCxnSpPr>
        <p:spPr>
          <a:xfrm>
            <a:off x="2366125" y="2418325"/>
            <a:ext cx="2362200" cy="15687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1" name="Google Shape;161;p26" title="pngwing.com (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2450" y="4636463"/>
            <a:ext cx="447125" cy="4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/>
          <p:nvPr/>
        </p:nvSpPr>
        <p:spPr>
          <a:xfrm>
            <a:off x="3069638" y="2320926"/>
            <a:ext cx="632910" cy="611566"/>
          </a:xfrm>
          <a:custGeom>
            <a:rect b="b" l="l" r="r" t="t"/>
            <a:pathLst>
              <a:path extrusionOk="0" h="933689" w="900940">
                <a:moveTo>
                  <a:pt x="0" y="0"/>
                </a:moveTo>
                <a:lnTo>
                  <a:pt x="731521" y="0"/>
                </a:lnTo>
                <a:lnTo>
                  <a:pt x="737219" y="112843"/>
                </a:lnTo>
                <a:cubicBezTo>
                  <a:pt x="751735" y="255781"/>
                  <a:pt x="787491" y="392441"/>
                  <a:pt x="841281" y="519615"/>
                </a:cubicBezTo>
                <a:lnTo>
                  <a:pt x="900940" y="643459"/>
                </a:lnTo>
                <a:lnTo>
                  <a:pt x="441142" y="908908"/>
                </a:lnTo>
                <a:cubicBezTo>
                  <a:pt x="345704" y="963648"/>
                  <a:pt x="222154" y="924522"/>
                  <a:pt x="178339" y="822849"/>
                </a:cubicBezTo>
                <a:cubicBezTo>
                  <a:pt x="67284" y="571006"/>
                  <a:pt x="4685" y="292530"/>
                  <a:pt x="0" y="0"/>
                </a:cubicBezTo>
                <a:close/>
              </a:path>
            </a:pathLst>
          </a:custGeom>
          <a:solidFill>
            <a:srgbClr val="024059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7"/>
          <p:cNvSpPr/>
          <p:nvPr/>
        </p:nvSpPr>
        <p:spPr>
          <a:xfrm>
            <a:off x="3069638" y="1613444"/>
            <a:ext cx="635371" cy="659865"/>
          </a:xfrm>
          <a:custGeom>
            <a:rect b="b" l="l" r="r" t="t"/>
            <a:pathLst>
              <a:path extrusionOk="0" h="1007427" w="904443">
                <a:moveTo>
                  <a:pt x="270611" y="0"/>
                </a:moveTo>
                <a:lnTo>
                  <a:pt x="904443" y="366010"/>
                </a:lnTo>
                <a:lnTo>
                  <a:pt x="900964" y="371735"/>
                </a:lnTo>
                <a:cubicBezTo>
                  <a:pt x="813689" y="532395"/>
                  <a:pt x="756574" y="711817"/>
                  <a:pt x="737219" y="902401"/>
                </a:cubicBezTo>
                <a:lnTo>
                  <a:pt x="731915" y="1007427"/>
                </a:lnTo>
                <a:lnTo>
                  <a:pt x="0" y="1007427"/>
                </a:lnTo>
                <a:cubicBezTo>
                  <a:pt x="4685" y="641395"/>
                  <a:pt x="101685" y="297238"/>
                  <a:pt x="270611" y="0"/>
                </a:cubicBezTo>
                <a:close/>
              </a:path>
            </a:pathLst>
          </a:custGeom>
          <a:solidFill>
            <a:srgbClr val="024059">
              <a:alpha val="8938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3848142" y="899206"/>
            <a:ext cx="707717" cy="583212"/>
          </a:xfrm>
          <a:custGeom>
            <a:rect b="b" l="l" r="r" t="t"/>
            <a:pathLst>
              <a:path extrusionOk="0" h="890400" w="1007426">
                <a:moveTo>
                  <a:pt x="800951" y="942"/>
                </a:moveTo>
                <a:cubicBezTo>
                  <a:pt x="910415" y="-10015"/>
                  <a:pt x="1007426" y="76039"/>
                  <a:pt x="1007426" y="187081"/>
                </a:cubicBezTo>
                <a:lnTo>
                  <a:pt x="1007426" y="721304"/>
                </a:lnTo>
                <a:lnTo>
                  <a:pt x="894582" y="727003"/>
                </a:lnTo>
                <a:cubicBezTo>
                  <a:pt x="751643" y="741519"/>
                  <a:pt x="614984" y="777275"/>
                  <a:pt x="487809" y="831065"/>
                </a:cubicBezTo>
                <a:lnTo>
                  <a:pt x="364637" y="890400"/>
                </a:lnTo>
                <a:lnTo>
                  <a:pt x="0" y="257501"/>
                </a:lnTo>
                <a:cubicBezTo>
                  <a:pt x="242482" y="122941"/>
                  <a:pt x="513088" y="32210"/>
                  <a:pt x="800951" y="942"/>
                </a:cubicBezTo>
                <a:close/>
              </a:path>
            </a:pathLst>
          </a:custGeom>
          <a:solidFill>
            <a:srgbClr val="024059">
              <a:alpha val="525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7"/>
          <p:cNvSpPr/>
          <p:nvPr/>
        </p:nvSpPr>
        <p:spPr>
          <a:xfrm>
            <a:off x="4606728" y="899200"/>
            <a:ext cx="707717" cy="585273"/>
          </a:xfrm>
          <a:custGeom>
            <a:rect b="b" l="l" r="r" t="t"/>
            <a:pathLst>
              <a:path extrusionOk="0" h="893546" w="1007426">
                <a:moveTo>
                  <a:pt x="206476" y="1212"/>
                </a:moveTo>
                <a:cubicBezTo>
                  <a:pt x="494339" y="32481"/>
                  <a:pt x="764944" y="123212"/>
                  <a:pt x="1007426" y="257772"/>
                </a:cubicBezTo>
                <a:lnTo>
                  <a:pt x="640279" y="893546"/>
                </a:lnTo>
                <a:lnTo>
                  <a:pt x="635689" y="890758"/>
                </a:lnTo>
                <a:cubicBezTo>
                  <a:pt x="475029" y="803482"/>
                  <a:pt x="295608" y="746368"/>
                  <a:pt x="105023" y="727013"/>
                </a:cubicBezTo>
                <a:lnTo>
                  <a:pt x="0" y="721709"/>
                </a:lnTo>
                <a:lnTo>
                  <a:pt x="0" y="185793"/>
                </a:lnTo>
                <a:cubicBezTo>
                  <a:pt x="0" y="74750"/>
                  <a:pt x="97012" y="-11304"/>
                  <a:pt x="206476" y="1212"/>
                </a:cubicBezTo>
                <a:close/>
              </a:path>
            </a:pathLst>
          </a:custGeom>
          <a:solidFill>
            <a:srgbClr val="1C9EB8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7"/>
          <p:cNvSpPr/>
          <p:nvPr/>
        </p:nvSpPr>
        <p:spPr>
          <a:xfrm>
            <a:off x="4606728" y="3114786"/>
            <a:ext cx="707717" cy="593222"/>
          </a:xfrm>
          <a:custGeom>
            <a:rect b="b" l="l" r="r" t="t"/>
            <a:pathLst>
              <a:path extrusionOk="0" h="905683" w="1007426">
                <a:moveTo>
                  <a:pt x="640657" y="0"/>
                </a:moveTo>
                <a:lnTo>
                  <a:pt x="1007426" y="636634"/>
                </a:lnTo>
                <a:cubicBezTo>
                  <a:pt x="708650" y="802437"/>
                  <a:pt x="366032" y="900998"/>
                  <a:pt x="0" y="905683"/>
                </a:cubicBezTo>
                <a:lnTo>
                  <a:pt x="0" y="172067"/>
                </a:lnTo>
                <a:lnTo>
                  <a:pt x="105023" y="166764"/>
                </a:lnTo>
                <a:cubicBezTo>
                  <a:pt x="295608" y="147409"/>
                  <a:pt x="475029" y="90294"/>
                  <a:pt x="635689" y="3018"/>
                </a:cubicBezTo>
                <a:close/>
              </a:path>
            </a:pathLst>
          </a:custGeom>
          <a:solidFill>
            <a:srgbClr val="026873">
              <a:alpha val="85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3848142" y="3117029"/>
            <a:ext cx="707717" cy="590982"/>
          </a:xfrm>
          <a:custGeom>
            <a:rect b="b" l="l" r="r" t="t"/>
            <a:pathLst>
              <a:path extrusionOk="0" h="902262" w="1007426">
                <a:moveTo>
                  <a:pt x="364751" y="0"/>
                </a:moveTo>
                <a:lnTo>
                  <a:pt x="487809" y="59280"/>
                </a:lnTo>
                <a:cubicBezTo>
                  <a:pt x="614984" y="113070"/>
                  <a:pt x="751643" y="148827"/>
                  <a:pt x="894582" y="163343"/>
                </a:cubicBezTo>
                <a:lnTo>
                  <a:pt x="1007426" y="169041"/>
                </a:lnTo>
                <a:lnTo>
                  <a:pt x="1007426" y="902262"/>
                </a:lnTo>
                <a:cubicBezTo>
                  <a:pt x="642934" y="896015"/>
                  <a:pt x="298777" y="799016"/>
                  <a:pt x="0" y="631652"/>
                </a:cubicBezTo>
                <a:close/>
              </a:path>
            </a:pathLst>
          </a:custGeom>
          <a:solidFill>
            <a:srgbClr val="026873">
              <a:alpha val="6438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3287286" y="1090370"/>
            <a:ext cx="775892" cy="722570"/>
          </a:xfrm>
          <a:custGeom>
            <a:rect b="b" l="l" r="r" t="t"/>
            <a:pathLst>
              <a:path extrusionOk="0" h="1103160" w="1104473">
                <a:moveTo>
                  <a:pt x="738340" y="0"/>
                </a:moveTo>
                <a:lnTo>
                  <a:pt x="1104473" y="634016"/>
                </a:lnTo>
                <a:lnTo>
                  <a:pt x="1045095" y="670089"/>
                </a:lnTo>
                <a:cubicBezTo>
                  <a:pt x="894291" y="771970"/>
                  <a:pt x="764149" y="902112"/>
                  <a:pt x="662268" y="1052916"/>
                </a:cubicBezTo>
                <a:lnTo>
                  <a:pt x="631745" y="1103160"/>
                </a:lnTo>
                <a:lnTo>
                  <a:pt x="0" y="738340"/>
                </a:lnTo>
                <a:cubicBezTo>
                  <a:pt x="181478" y="434871"/>
                  <a:pt x="436432" y="181478"/>
                  <a:pt x="738340" y="0"/>
                </a:cubicBezTo>
                <a:close/>
              </a:path>
            </a:pathLst>
          </a:custGeom>
          <a:solidFill>
            <a:srgbClr val="024059">
              <a:alpha val="75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5454556" y="2320926"/>
            <a:ext cx="632929" cy="611566"/>
          </a:xfrm>
          <a:custGeom>
            <a:rect b="b" l="l" r="r" t="t"/>
            <a:pathLst>
              <a:path extrusionOk="0" h="933689" w="900966">
                <a:moveTo>
                  <a:pt x="169445" y="0"/>
                </a:moveTo>
                <a:lnTo>
                  <a:pt x="900966" y="0"/>
                </a:lnTo>
                <a:cubicBezTo>
                  <a:pt x="897843" y="290968"/>
                  <a:pt x="833682" y="569445"/>
                  <a:pt x="721065" y="822849"/>
                </a:cubicBezTo>
                <a:cubicBezTo>
                  <a:pt x="677250" y="924522"/>
                  <a:pt x="553700" y="963648"/>
                  <a:pt x="458262" y="908908"/>
                </a:cubicBezTo>
                <a:lnTo>
                  <a:pt x="0" y="643511"/>
                </a:lnTo>
                <a:lnTo>
                  <a:pt x="1" y="643509"/>
                </a:lnTo>
                <a:cubicBezTo>
                  <a:pt x="87277" y="482849"/>
                  <a:pt x="144392" y="303427"/>
                  <a:pt x="163747" y="112843"/>
                </a:cubicBezTo>
                <a:close/>
              </a:path>
            </a:pathLst>
          </a:custGeom>
          <a:solidFill>
            <a:srgbClr val="2596AC">
              <a:alpha val="4063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5100980" y="2781023"/>
            <a:ext cx="720523" cy="724816"/>
          </a:xfrm>
          <a:custGeom>
            <a:rect b="b" l="l" r="r" t="t"/>
            <a:pathLst>
              <a:path extrusionOk="0" h="1106589" w="1025655">
                <a:moveTo>
                  <a:pt x="467593" y="0"/>
                </a:moveTo>
                <a:lnTo>
                  <a:pt x="931655" y="268099"/>
                </a:lnTo>
                <a:cubicBezTo>
                  <a:pt x="1028633" y="324414"/>
                  <a:pt x="1055213" y="451137"/>
                  <a:pt x="989534" y="540316"/>
                </a:cubicBezTo>
                <a:cubicBezTo>
                  <a:pt x="822107" y="768697"/>
                  <a:pt x="610960" y="961095"/>
                  <a:pt x="366925" y="1106589"/>
                </a:cubicBezTo>
                <a:lnTo>
                  <a:pt x="0" y="471177"/>
                </a:lnTo>
                <a:lnTo>
                  <a:pt x="49280" y="441238"/>
                </a:lnTo>
                <a:cubicBezTo>
                  <a:pt x="200084" y="339357"/>
                  <a:pt x="330226" y="209215"/>
                  <a:pt x="432107" y="58411"/>
                </a:cubicBezTo>
                <a:close/>
              </a:path>
            </a:pathLst>
          </a:custGeom>
          <a:solidFill>
            <a:srgbClr val="026873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3342454" y="2785586"/>
            <a:ext cx="720237" cy="722333"/>
          </a:xfrm>
          <a:custGeom>
            <a:rect b="b" l="l" r="r" t="t"/>
            <a:pathLst>
              <a:path extrusionOk="0" h="1102798" w="1025249">
                <a:moveTo>
                  <a:pt x="552514" y="0"/>
                </a:moveTo>
                <a:lnTo>
                  <a:pt x="583770" y="51449"/>
                </a:lnTo>
                <a:cubicBezTo>
                  <a:pt x="685651" y="202253"/>
                  <a:pt x="815793" y="332395"/>
                  <a:pt x="966597" y="434276"/>
                </a:cubicBezTo>
                <a:lnTo>
                  <a:pt x="1025249" y="469908"/>
                </a:lnTo>
                <a:lnTo>
                  <a:pt x="658307" y="1102798"/>
                </a:lnTo>
                <a:cubicBezTo>
                  <a:pt x="415859" y="955744"/>
                  <a:pt x="203115" y="763347"/>
                  <a:pt x="35745" y="536527"/>
                </a:cubicBezTo>
                <a:cubicBezTo>
                  <a:pt x="-29980" y="447348"/>
                  <a:pt x="-1819" y="319066"/>
                  <a:pt x="93608" y="264311"/>
                </a:cubicBezTo>
                <a:close/>
              </a:path>
            </a:pathLst>
          </a:custGeom>
          <a:solidFill>
            <a:srgbClr val="026873">
              <a:alpha val="4313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5100512" y="1092451"/>
            <a:ext cx="776928" cy="725083"/>
          </a:xfrm>
          <a:custGeom>
            <a:rect b="b" l="l" r="r" t="t"/>
            <a:pathLst>
              <a:path extrusionOk="0" h="1106997" w="1105947">
                <a:moveTo>
                  <a:pt x="367607" y="0"/>
                </a:moveTo>
                <a:cubicBezTo>
                  <a:pt x="671076" y="181478"/>
                  <a:pt x="924469" y="436431"/>
                  <a:pt x="1105947" y="738340"/>
                </a:cubicBezTo>
                <a:lnTo>
                  <a:pt x="467559" y="1106997"/>
                </a:lnTo>
                <a:lnTo>
                  <a:pt x="432775" y="1049741"/>
                </a:lnTo>
                <a:cubicBezTo>
                  <a:pt x="330894" y="898937"/>
                  <a:pt x="200752" y="768795"/>
                  <a:pt x="49948" y="666914"/>
                </a:cubicBezTo>
                <a:lnTo>
                  <a:pt x="0" y="636570"/>
                </a:lnTo>
                <a:close/>
              </a:path>
            </a:pathLst>
          </a:custGeom>
          <a:solidFill>
            <a:srgbClr val="2596AC">
              <a:alpha val="8625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5452125" y="1613444"/>
            <a:ext cx="635358" cy="659863"/>
          </a:xfrm>
          <a:custGeom>
            <a:rect b="b" l="l" r="r" t="t"/>
            <a:pathLst>
              <a:path extrusionOk="0" h="1007424" w="904424">
                <a:moveTo>
                  <a:pt x="635374" y="0"/>
                </a:moveTo>
                <a:cubicBezTo>
                  <a:pt x="801177" y="298776"/>
                  <a:pt x="899739" y="641393"/>
                  <a:pt x="904424" y="1007424"/>
                </a:cubicBezTo>
                <a:lnTo>
                  <a:pt x="172508" y="1007424"/>
                </a:lnTo>
                <a:lnTo>
                  <a:pt x="167205" y="902401"/>
                </a:lnTo>
                <a:cubicBezTo>
                  <a:pt x="147850" y="711817"/>
                  <a:pt x="90735" y="532395"/>
                  <a:pt x="3459" y="371735"/>
                </a:cubicBezTo>
                <a:lnTo>
                  <a:pt x="0" y="366041"/>
                </a:lnTo>
                <a:close/>
              </a:path>
            </a:pathLst>
          </a:custGeom>
          <a:solidFill>
            <a:srgbClr val="2596AC">
              <a:alpha val="6813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3659307" y="1443538"/>
            <a:ext cx="896018" cy="1267343"/>
          </a:xfrm>
          <a:custGeom>
            <a:rect b="b" l="l" r="r" t="t"/>
            <a:pathLst>
              <a:path extrusionOk="0" h="1934875" w="1275471">
                <a:moveTo>
                  <a:pt x="1275471" y="0"/>
                </a:moveTo>
                <a:lnTo>
                  <a:pt x="1264986" y="211574"/>
                </a:lnTo>
                <a:cubicBezTo>
                  <a:pt x="1242844" y="434234"/>
                  <a:pt x="1188042" y="650217"/>
                  <a:pt x="1103896" y="852926"/>
                </a:cubicBezTo>
                <a:cubicBezTo>
                  <a:pt x="1029576" y="1031423"/>
                  <a:pt x="931615" y="1200517"/>
                  <a:pt x="814716" y="1355413"/>
                </a:cubicBezTo>
                <a:cubicBezTo>
                  <a:pt x="640886" y="1583011"/>
                  <a:pt x="424358" y="1778870"/>
                  <a:pt x="169955" y="1929064"/>
                </a:cubicBezTo>
                <a:lnTo>
                  <a:pt x="160796" y="1934875"/>
                </a:lnTo>
                <a:lnTo>
                  <a:pt x="157891" y="1930093"/>
                </a:lnTo>
                <a:cubicBezTo>
                  <a:pt x="57197" y="1744732"/>
                  <a:pt x="0" y="1532313"/>
                  <a:pt x="0" y="1306534"/>
                </a:cubicBezTo>
                <a:cubicBezTo>
                  <a:pt x="0" y="629199"/>
                  <a:pt x="514771" y="72094"/>
                  <a:pt x="1174432" y="5102"/>
                </a:cubicBezTo>
                <a:close/>
              </a:path>
            </a:pathLst>
          </a:custGeom>
          <a:solidFill>
            <a:srgbClr val="024059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4607197" y="1443798"/>
            <a:ext cx="890509" cy="1264738"/>
          </a:xfrm>
          <a:custGeom>
            <a:rect b="b" l="l" r="r" t="t"/>
            <a:pathLst>
              <a:path extrusionOk="0" h="1930897" w="1267629">
                <a:moveTo>
                  <a:pt x="0" y="0"/>
                </a:moveTo>
                <a:lnTo>
                  <a:pt x="93198" y="4706"/>
                </a:lnTo>
                <a:cubicBezTo>
                  <a:pt x="752858" y="71698"/>
                  <a:pt x="1267629" y="628803"/>
                  <a:pt x="1267629" y="1306138"/>
                </a:cubicBezTo>
                <a:cubicBezTo>
                  <a:pt x="1267629" y="1531917"/>
                  <a:pt x="1210432" y="1744336"/>
                  <a:pt x="1109738" y="1929697"/>
                </a:cubicBezTo>
                <a:lnTo>
                  <a:pt x="1109009" y="1930897"/>
                </a:lnTo>
                <a:lnTo>
                  <a:pt x="1105496" y="1928668"/>
                </a:lnTo>
                <a:cubicBezTo>
                  <a:pt x="851093" y="1778474"/>
                  <a:pt x="634565" y="1582615"/>
                  <a:pt x="460736" y="1355017"/>
                </a:cubicBezTo>
                <a:cubicBezTo>
                  <a:pt x="343837" y="1200121"/>
                  <a:pt x="245875" y="1031027"/>
                  <a:pt x="171555" y="852530"/>
                </a:cubicBezTo>
                <a:cubicBezTo>
                  <a:pt x="87409" y="649821"/>
                  <a:pt x="32607" y="433838"/>
                  <a:pt x="10466" y="211178"/>
                </a:cubicBezTo>
                <a:close/>
              </a:path>
            </a:pathLst>
          </a:custGeom>
          <a:solidFill>
            <a:srgbClr val="2596AC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3797482" y="2554832"/>
            <a:ext cx="1565692" cy="602110"/>
          </a:xfrm>
          <a:custGeom>
            <a:rect b="b" l="l" r="r" t="t"/>
            <a:pathLst>
              <a:path extrusionOk="0" h="919252" w="2228743">
                <a:moveTo>
                  <a:pt x="1109232" y="19"/>
                </a:moveTo>
                <a:cubicBezTo>
                  <a:pt x="1206019" y="-378"/>
                  <a:pt x="1302806" y="5544"/>
                  <a:pt x="1399201" y="17387"/>
                </a:cubicBezTo>
                <a:cubicBezTo>
                  <a:pt x="1617265" y="44657"/>
                  <a:pt x="1831749" y="103043"/>
                  <a:pt x="2036712" y="193182"/>
                </a:cubicBezTo>
                <a:lnTo>
                  <a:pt x="2228743" y="289162"/>
                </a:lnTo>
                <a:lnTo>
                  <a:pt x="2196348" y="342485"/>
                </a:lnTo>
                <a:cubicBezTo>
                  <a:pt x="1961257" y="690465"/>
                  <a:pt x="1563136" y="919252"/>
                  <a:pt x="1111579" y="919252"/>
                </a:cubicBezTo>
                <a:cubicBezTo>
                  <a:pt x="660022" y="919252"/>
                  <a:pt x="261901" y="690465"/>
                  <a:pt x="26811" y="342485"/>
                </a:cubicBezTo>
                <a:lnTo>
                  <a:pt x="0" y="298352"/>
                </a:lnTo>
                <a:lnTo>
                  <a:pt x="2299" y="297098"/>
                </a:lnTo>
                <a:cubicBezTo>
                  <a:pt x="258207" y="150152"/>
                  <a:pt x="536335" y="58473"/>
                  <a:pt x="819263" y="20555"/>
                </a:cubicBezTo>
                <a:cubicBezTo>
                  <a:pt x="915658" y="7128"/>
                  <a:pt x="1012445" y="415"/>
                  <a:pt x="1109232" y="19"/>
                </a:cubicBezTo>
                <a:close/>
              </a:path>
            </a:pathLst>
          </a:custGeom>
          <a:solidFill>
            <a:srgbClr val="026873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937" y="1855862"/>
            <a:ext cx="819601" cy="76440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/>
          <p:nvPr/>
        </p:nvSpPr>
        <p:spPr>
          <a:xfrm>
            <a:off x="627876" y="1032800"/>
            <a:ext cx="2314200" cy="898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24059">
              <a:alpha val="52500"/>
            </a:srgbClr>
          </a:solidFill>
          <a:ln cap="flat" cmpd="sng" w="9525">
            <a:solidFill>
              <a:srgbClr val="024059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209550">
              <a:srgbClr val="000000">
                <a:alpha val="62000"/>
              </a:srgbClr>
            </a:outerShdw>
            <a:reflection blurRad="0" dir="5400000" dist="3810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24 % der Kunden sind mit den Preisen vollkommen zufrieden. 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6950363" y="1074813"/>
            <a:ext cx="2087100" cy="898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2596AC">
              <a:alpha val="40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209550">
              <a:srgbClr val="000000">
                <a:alpha val="6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69 % akzeptieren die aktuellen Preise 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3529513" y="4068925"/>
            <a:ext cx="2238300" cy="898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8ED6CE">
              <a:alpha val="475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5400000" dist="209550">
              <a:srgbClr val="000000">
                <a:alpha val="6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7 % </a:t>
            </a:r>
            <a:r>
              <a:rPr b="1"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äußern Unzufriedenheit mit der Preispolitik. </a:t>
            </a:r>
            <a:endParaRPr b="1"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85" name="Google Shape;185;p27"/>
          <p:cNvCxnSpPr/>
          <p:nvPr/>
        </p:nvCxnSpPr>
        <p:spPr>
          <a:xfrm>
            <a:off x="4568938" y="3108100"/>
            <a:ext cx="25800" cy="1172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7"/>
          <p:cNvCxnSpPr/>
          <p:nvPr/>
        </p:nvCxnSpPr>
        <p:spPr>
          <a:xfrm rot="10800000">
            <a:off x="2942138" y="1420575"/>
            <a:ext cx="834900" cy="431700"/>
          </a:xfrm>
          <a:prstGeom prst="straightConnector1">
            <a:avLst/>
          </a:prstGeom>
          <a:noFill/>
          <a:ln cap="flat" cmpd="sng" w="9525">
            <a:solidFill>
              <a:srgbClr val="0240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7"/>
          <p:cNvCxnSpPr/>
          <p:nvPr/>
        </p:nvCxnSpPr>
        <p:spPr>
          <a:xfrm flipH="1">
            <a:off x="2192388" y="1427775"/>
            <a:ext cx="756900" cy="1860600"/>
          </a:xfrm>
          <a:prstGeom prst="straightConnector1">
            <a:avLst/>
          </a:prstGeom>
          <a:noFill/>
          <a:ln cap="flat" cmpd="sng" w="9525">
            <a:solidFill>
              <a:srgbClr val="0240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7"/>
          <p:cNvCxnSpPr/>
          <p:nvPr/>
        </p:nvCxnSpPr>
        <p:spPr>
          <a:xfrm rot="10800000">
            <a:off x="1231132" y="2037900"/>
            <a:ext cx="1007700" cy="1117800"/>
          </a:xfrm>
          <a:prstGeom prst="straightConnector1">
            <a:avLst/>
          </a:prstGeom>
          <a:noFill/>
          <a:ln cap="flat" cmpd="sng" w="9525">
            <a:solidFill>
              <a:srgbClr val="0240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7"/>
          <p:cNvCxnSpPr/>
          <p:nvPr/>
        </p:nvCxnSpPr>
        <p:spPr>
          <a:xfrm flipH="1" rot="10800000">
            <a:off x="5265363" y="1431800"/>
            <a:ext cx="898800" cy="499500"/>
          </a:xfrm>
          <a:prstGeom prst="straightConnector1">
            <a:avLst/>
          </a:prstGeom>
          <a:noFill/>
          <a:ln cap="flat" cmpd="sng" w="9525">
            <a:solidFill>
              <a:srgbClr val="0240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7"/>
          <p:cNvCxnSpPr/>
          <p:nvPr/>
        </p:nvCxnSpPr>
        <p:spPr>
          <a:xfrm flipH="1">
            <a:off x="2152863" y="1855150"/>
            <a:ext cx="756900" cy="1860600"/>
          </a:xfrm>
          <a:prstGeom prst="straightConnector1">
            <a:avLst/>
          </a:prstGeom>
          <a:noFill/>
          <a:ln cap="flat" cmpd="sng" w="9525">
            <a:solidFill>
              <a:srgbClr val="0240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7"/>
          <p:cNvCxnSpPr/>
          <p:nvPr/>
        </p:nvCxnSpPr>
        <p:spPr>
          <a:xfrm>
            <a:off x="1325188" y="3004750"/>
            <a:ext cx="819600" cy="711000"/>
          </a:xfrm>
          <a:prstGeom prst="straightConnector1">
            <a:avLst/>
          </a:prstGeom>
          <a:noFill/>
          <a:ln cap="flat" cmpd="sng" w="9525">
            <a:solidFill>
              <a:srgbClr val="02405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27" title="pngwing.com (1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5350" y="1853312"/>
            <a:ext cx="442027" cy="445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7" title="pngwing.com (18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2200" y="1853298"/>
            <a:ext cx="383160" cy="44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7" title="pngwing.com (19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90263" y="2708519"/>
            <a:ext cx="383149" cy="438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7"/>
          <p:cNvCxnSpPr/>
          <p:nvPr/>
        </p:nvCxnSpPr>
        <p:spPr>
          <a:xfrm>
            <a:off x="6164163" y="1420575"/>
            <a:ext cx="650100" cy="1864800"/>
          </a:xfrm>
          <a:prstGeom prst="straightConnector1">
            <a:avLst/>
          </a:prstGeom>
          <a:noFill/>
          <a:ln cap="flat" cmpd="sng" w="9525">
            <a:solidFill>
              <a:srgbClr val="0240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7"/>
          <p:cNvCxnSpPr>
            <a:endCxn id="183" idx="7"/>
          </p:cNvCxnSpPr>
          <p:nvPr/>
        </p:nvCxnSpPr>
        <p:spPr>
          <a:xfrm flipH="1" rot="10800000">
            <a:off x="6768607" y="2085625"/>
            <a:ext cx="790500" cy="1026000"/>
          </a:xfrm>
          <a:prstGeom prst="straightConnector1">
            <a:avLst/>
          </a:prstGeom>
          <a:noFill/>
          <a:ln cap="flat" cmpd="sng" w="9525">
            <a:solidFill>
              <a:srgbClr val="0240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7"/>
          <p:cNvCxnSpPr/>
          <p:nvPr/>
        </p:nvCxnSpPr>
        <p:spPr>
          <a:xfrm>
            <a:off x="6169563" y="1855838"/>
            <a:ext cx="698700" cy="1952700"/>
          </a:xfrm>
          <a:prstGeom prst="straightConnector1">
            <a:avLst/>
          </a:prstGeom>
          <a:noFill/>
          <a:ln cap="flat" cmpd="sng" w="9525">
            <a:solidFill>
              <a:srgbClr val="0240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27"/>
          <p:cNvCxnSpPr/>
          <p:nvPr/>
        </p:nvCxnSpPr>
        <p:spPr>
          <a:xfrm flipH="1">
            <a:off x="6859775" y="3008188"/>
            <a:ext cx="686100" cy="806400"/>
          </a:xfrm>
          <a:prstGeom prst="straightConnector1">
            <a:avLst/>
          </a:prstGeom>
          <a:noFill/>
          <a:ln cap="flat" cmpd="sng" w="9525">
            <a:solidFill>
              <a:srgbClr val="0240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7"/>
          <p:cNvSpPr/>
          <p:nvPr/>
        </p:nvSpPr>
        <p:spPr>
          <a:xfrm>
            <a:off x="1042700" y="97200"/>
            <a:ext cx="7199100" cy="580200"/>
          </a:xfrm>
          <a:prstGeom prst="roundRect">
            <a:avLst>
              <a:gd fmla="val 16667" name="adj"/>
            </a:avLst>
          </a:prstGeom>
          <a:solidFill>
            <a:srgbClr val="FFFFFF">
              <a:alpha val="30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71525" rotWithShape="0" algn="bl" dir="6180000" dist="171450">
              <a:srgbClr val="000000">
                <a:alpha val="41000"/>
              </a:srgbClr>
            </a:outerShdw>
            <a:reflection blurRad="0" dir="5400000" dist="36195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accent5"/>
                </a:solidFill>
              </a:rPr>
              <a:t>Kundenzufriedenheit mit den Dienstleistungspreisen </a:t>
            </a:r>
            <a:endParaRPr b="1" sz="2200">
              <a:solidFill>
                <a:schemeClr val="accent5"/>
              </a:solidFill>
            </a:endParaRPr>
          </a:p>
        </p:txBody>
      </p:sp>
      <p:pic>
        <p:nvPicPr>
          <p:cNvPr id="200" name="Google Shape;200;p27" title="pngwing.com (2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8088600" y="187625"/>
            <a:ext cx="532750" cy="53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025" y="2447025"/>
            <a:ext cx="1203300" cy="15687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9525">
              <a:srgbClr val="F0EACE">
                <a:alpha val="64000"/>
              </a:srgbClr>
            </a:outerShdw>
          </a:effectLst>
        </p:spPr>
      </p:pic>
      <p:pic>
        <p:nvPicPr>
          <p:cNvPr id="202" name="Google Shape;202;p27" title="pngwing.com (6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72450" y="4636463"/>
            <a:ext cx="447125" cy="44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7"/>
          <p:cNvPicPr preferRelativeResize="0"/>
          <p:nvPr/>
        </p:nvPicPr>
        <p:blipFill rotWithShape="1">
          <a:blip r:embed="rId10">
            <a:alphaModFix/>
          </a:blip>
          <a:srcRect b="0" l="0" r="25082" t="0"/>
          <a:stretch/>
        </p:blipFill>
        <p:spPr>
          <a:xfrm>
            <a:off x="7480750" y="2447025"/>
            <a:ext cx="1327200" cy="1568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/>
          <p:nvPr/>
        </p:nvSpPr>
        <p:spPr>
          <a:xfrm>
            <a:off x="3261862" y="1877517"/>
            <a:ext cx="1238611" cy="845723"/>
          </a:xfrm>
          <a:custGeom>
            <a:rect b="b" l="l" r="r" t="t"/>
            <a:pathLst>
              <a:path extrusionOk="0" h="1037697" w="2030510">
                <a:moveTo>
                  <a:pt x="0" y="0"/>
                </a:moveTo>
                <a:lnTo>
                  <a:pt x="13592" y="2744"/>
                </a:lnTo>
                <a:lnTo>
                  <a:pt x="93270" y="2744"/>
                </a:lnTo>
                <a:lnTo>
                  <a:pt x="118036" y="2744"/>
                </a:lnTo>
                <a:lnTo>
                  <a:pt x="2030510" y="2744"/>
                </a:lnTo>
                <a:lnTo>
                  <a:pt x="2030510" y="1037697"/>
                </a:lnTo>
                <a:lnTo>
                  <a:pt x="0" y="1037697"/>
                </a:lnTo>
                <a:lnTo>
                  <a:pt x="0" y="0"/>
                </a:lnTo>
                <a:close/>
              </a:path>
            </a:pathLst>
          </a:custGeom>
          <a:solidFill>
            <a:srgbClr val="008F8C"/>
          </a:solidFill>
          <a:ln>
            <a:noFill/>
          </a:ln>
          <a:effectLst>
            <a:outerShdw blurRad="57150" rotWithShape="0" algn="bl" dir="5400000" dist="57150">
              <a:srgbClr val="F1E398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4640986" y="1877516"/>
            <a:ext cx="1238610" cy="845722"/>
          </a:xfrm>
          <a:custGeom>
            <a:rect b="b" l="l" r="r" t="t"/>
            <a:pathLst>
              <a:path extrusionOk="0" h="1037696" w="2030508">
                <a:moveTo>
                  <a:pt x="2030508" y="0"/>
                </a:moveTo>
                <a:lnTo>
                  <a:pt x="2030508" y="1037696"/>
                </a:lnTo>
                <a:lnTo>
                  <a:pt x="0" y="1037696"/>
                </a:lnTo>
                <a:lnTo>
                  <a:pt x="0" y="2743"/>
                </a:lnTo>
                <a:lnTo>
                  <a:pt x="1934562" y="2743"/>
                </a:lnTo>
                <a:lnTo>
                  <a:pt x="1968851" y="2743"/>
                </a:lnTo>
                <a:lnTo>
                  <a:pt x="2016920" y="2743"/>
                </a:lnTo>
                <a:lnTo>
                  <a:pt x="2030508" y="0"/>
                </a:lnTo>
                <a:close/>
              </a:path>
            </a:pathLst>
          </a:custGeom>
          <a:solidFill>
            <a:srgbClr val="023535"/>
          </a:solidFill>
          <a:ln>
            <a:noFill/>
          </a:ln>
          <a:effectLst>
            <a:outerShdw blurRad="57150" rotWithShape="0" algn="bl" dir="5400000" dist="57150">
              <a:srgbClr val="F0EACE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2353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3261862" y="2895316"/>
            <a:ext cx="1238611" cy="840310"/>
          </a:xfrm>
          <a:custGeom>
            <a:rect b="b" l="l" r="r" t="t"/>
            <a:pathLst>
              <a:path extrusionOk="0" h="1159048" w="2030510">
                <a:moveTo>
                  <a:pt x="0" y="0"/>
                </a:moveTo>
                <a:lnTo>
                  <a:pt x="2030510" y="0"/>
                </a:lnTo>
                <a:lnTo>
                  <a:pt x="2030510" y="1156304"/>
                </a:lnTo>
                <a:lnTo>
                  <a:pt x="95950" y="1156304"/>
                </a:lnTo>
                <a:lnTo>
                  <a:pt x="61661" y="1156304"/>
                </a:lnTo>
                <a:lnTo>
                  <a:pt x="13592" y="1156304"/>
                </a:lnTo>
                <a:lnTo>
                  <a:pt x="0" y="1159048"/>
                </a:lnTo>
                <a:lnTo>
                  <a:pt x="0" y="0"/>
                </a:lnTo>
                <a:close/>
              </a:path>
            </a:pathLst>
          </a:custGeom>
          <a:solidFill>
            <a:srgbClr val="C7FFED"/>
          </a:solidFill>
          <a:ln>
            <a:noFill/>
          </a:ln>
          <a:effectLst>
            <a:outerShdw blurRad="57150" rotWithShape="0" algn="bl" dir="5400000" dist="57150">
              <a:srgbClr val="F1E398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4640986" y="2895316"/>
            <a:ext cx="1238610" cy="840309"/>
          </a:xfrm>
          <a:custGeom>
            <a:rect b="b" l="l" r="r" t="t"/>
            <a:pathLst>
              <a:path extrusionOk="0" h="1159047" w="2030508">
                <a:moveTo>
                  <a:pt x="0" y="0"/>
                </a:moveTo>
                <a:lnTo>
                  <a:pt x="2030508" y="0"/>
                </a:lnTo>
                <a:lnTo>
                  <a:pt x="2030508" y="1159047"/>
                </a:lnTo>
                <a:lnTo>
                  <a:pt x="2016920" y="1156304"/>
                </a:lnTo>
                <a:lnTo>
                  <a:pt x="1937242" y="1156304"/>
                </a:lnTo>
                <a:lnTo>
                  <a:pt x="1912476" y="1156304"/>
                </a:lnTo>
                <a:lnTo>
                  <a:pt x="0" y="1156304"/>
                </a:lnTo>
                <a:lnTo>
                  <a:pt x="0" y="0"/>
                </a:lnTo>
                <a:close/>
              </a:path>
            </a:pathLst>
          </a:custGeom>
          <a:solidFill>
            <a:srgbClr val="D8FFDB"/>
          </a:solidFill>
          <a:ln>
            <a:noFill/>
          </a:ln>
          <a:effectLst>
            <a:outerShdw blurRad="57150" rotWithShape="0" algn="bl" dir="5400000" dist="57150">
              <a:srgbClr val="F1E398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3197977" y="1549813"/>
            <a:ext cx="2750128" cy="333684"/>
          </a:xfrm>
          <a:custGeom>
            <a:rect b="b" l="l" r="r" t="t"/>
            <a:pathLst>
              <a:path extrusionOk="0" h="460254" w="4508407">
                <a:moveTo>
                  <a:pt x="2254202" y="0"/>
                </a:moveTo>
                <a:cubicBezTo>
                  <a:pt x="2319728" y="0"/>
                  <a:pt x="2372845" y="53116"/>
                  <a:pt x="2372845" y="118642"/>
                </a:cubicBezTo>
                <a:lnTo>
                  <a:pt x="2372845" y="222970"/>
                </a:lnTo>
                <a:lnTo>
                  <a:pt x="4307406" y="222970"/>
                </a:lnTo>
                <a:lnTo>
                  <a:pt x="4341695" y="222970"/>
                </a:lnTo>
                <a:lnTo>
                  <a:pt x="4389764" y="222970"/>
                </a:lnTo>
                <a:cubicBezTo>
                  <a:pt x="4455290" y="222970"/>
                  <a:pt x="4508407" y="276086"/>
                  <a:pt x="4508407" y="341612"/>
                </a:cubicBezTo>
                <a:cubicBezTo>
                  <a:pt x="4508407" y="407138"/>
                  <a:pt x="4455290" y="460254"/>
                  <a:pt x="4389764" y="460254"/>
                </a:cubicBezTo>
                <a:lnTo>
                  <a:pt x="4341695" y="460254"/>
                </a:lnTo>
                <a:lnTo>
                  <a:pt x="4307406" y="460254"/>
                </a:lnTo>
                <a:lnTo>
                  <a:pt x="223086" y="460254"/>
                </a:lnTo>
                <a:lnTo>
                  <a:pt x="198320" y="460254"/>
                </a:lnTo>
                <a:lnTo>
                  <a:pt x="118642" y="460254"/>
                </a:lnTo>
                <a:cubicBezTo>
                  <a:pt x="53116" y="460254"/>
                  <a:pt x="0" y="407138"/>
                  <a:pt x="0" y="341612"/>
                </a:cubicBezTo>
                <a:cubicBezTo>
                  <a:pt x="0" y="276086"/>
                  <a:pt x="53116" y="222970"/>
                  <a:pt x="118642" y="222970"/>
                </a:cubicBezTo>
                <a:lnTo>
                  <a:pt x="198320" y="222970"/>
                </a:lnTo>
                <a:lnTo>
                  <a:pt x="223086" y="222970"/>
                </a:lnTo>
                <a:lnTo>
                  <a:pt x="2135560" y="222970"/>
                </a:lnTo>
                <a:lnTo>
                  <a:pt x="2135560" y="118642"/>
                </a:lnTo>
                <a:cubicBezTo>
                  <a:pt x="2135560" y="53116"/>
                  <a:pt x="2188676" y="0"/>
                  <a:pt x="225420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rotWithShape="0" algn="bl" dir="5400000" dist="57150">
              <a:srgbClr val="F1E398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28"/>
          <p:cNvSpPr/>
          <p:nvPr/>
        </p:nvSpPr>
        <p:spPr>
          <a:xfrm rot="10800000">
            <a:off x="3189568" y="3736457"/>
            <a:ext cx="2750128" cy="1104153"/>
          </a:xfrm>
          <a:custGeom>
            <a:rect b="b" l="l" r="r" t="t"/>
            <a:pathLst>
              <a:path extrusionOk="0" h="1522970" w="4508407">
                <a:moveTo>
                  <a:pt x="4389764" y="1522970"/>
                </a:moveTo>
                <a:lnTo>
                  <a:pt x="4341695" y="1522970"/>
                </a:lnTo>
                <a:lnTo>
                  <a:pt x="4307406" y="1522970"/>
                </a:lnTo>
                <a:lnTo>
                  <a:pt x="223086" y="1522970"/>
                </a:lnTo>
                <a:lnTo>
                  <a:pt x="198320" y="1522970"/>
                </a:lnTo>
                <a:lnTo>
                  <a:pt x="118642" y="1522970"/>
                </a:lnTo>
                <a:cubicBezTo>
                  <a:pt x="53116" y="1522970"/>
                  <a:pt x="0" y="1469854"/>
                  <a:pt x="0" y="1404328"/>
                </a:cubicBezTo>
                <a:cubicBezTo>
                  <a:pt x="0" y="1338802"/>
                  <a:pt x="53116" y="1285686"/>
                  <a:pt x="118642" y="1285686"/>
                </a:cubicBezTo>
                <a:lnTo>
                  <a:pt x="198320" y="1285686"/>
                </a:lnTo>
                <a:lnTo>
                  <a:pt x="223086" y="1285686"/>
                </a:lnTo>
                <a:lnTo>
                  <a:pt x="1910928" y="1285686"/>
                </a:lnTo>
                <a:lnTo>
                  <a:pt x="1018541" y="393299"/>
                </a:lnTo>
                <a:cubicBezTo>
                  <a:pt x="972182" y="346940"/>
                  <a:pt x="972182" y="271779"/>
                  <a:pt x="1018541" y="225420"/>
                </a:cubicBezTo>
                <a:cubicBezTo>
                  <a:pt x="1064901" y="179061"/>
                  <a:pt x="1140061" y="179061"/>
                  <a:pt x="1186420" y="225420"/>
                </a:cubicBezTo>
                <a:lnTo>
                  <a:pt x="2135558" y="1174558"/>
                </a:lnTo>
                <a:lnTo>
                  <a:pt x="2135558" y="118642"/>
                </a:lnTo>
                <a:cubicBezTo>
                  <a:pt x="2135558" y="53116"/>
                  <a:pt x="2188675" y="0"/>
                  <a:pt x="2254201" y="0"/>
                </a:cubicBezTo>
                <a:cubicBezTo>
                  <a:pt x="2319727" y="0"/>
                  <a:pt x="2372843" y="53116"/>
                  <a:pt x="2372843" y="118642"/>
                </a:cubicBezTo>
                <a:lnTo>
                  <a:pt x="2372843" y="1172778"/>
                </a:lnTo>
                <a:lnTo>
                  <a:pt x="3321981" y="223640"/>
                </a:lnTo>
                <a:cubicBezTo>
                  <a:pt x="3368341" y="176789"/>
                  <a:pt x="3443898" y="176391"/>
                  <a:pt x="3490750" y="222750"/>
                </a:cubicBezTo>
                <a:cubicBezTo>
                  <a:pt x="3537602" y="269110"/>
                  <a:pt x="3537999" y="344668"/>
                  <a:pt x="3491640" y="391519"/>
                </a:cubicBezTo>
                <a:lnTo>
                  <a:pt x="2597473" y="1285686"/>
                </a:lnTo>
                <a:lnTo>
                  <a:pt x="4307406" y="1285686"/>
                </a:lnTo>
                <a:lnTo>
                  <a:pt x="4341695" y="1285686"/>
                </a:lnTo>
                <a:lnTo>
                  <a:pt x="4389764" y="1285686"/>
                </a:lnTo>
                <a:cubicBezTo>
                  <a:pt x="4455290" y="1285686"/>
                  <a:pt x="4508407" y="1338802"/>
                  <a:pt x="4508407" y="1404328"/>
                </a:cubicBezTo>
                <a:cubicBezTo>
                  <a:pt x="4508407" y="1469854"/>
                  <a:pt x="4455290" y="1522970"/>
                  <a:pt x="4389764" y="152297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rotWithShape="0" algn="bl" dir="5400000" dist="57150">
              <a:srgbClr val="F1E398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28"/>
          <p:cNvSpPr txBox="1"/>
          <p:nvPr/>
        </p:nvSpPr>
        <p:spPr>
          <a:xfrm>
            <a:off x="6214408" y="3451710"/>
            <a:ext cx="19965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15" name="Google Shape;215;p28"/>
          <p:cNvGrpSpPr/>
          <p:nvPr/>
        </p:nvGrpSpPr>
        <p:grpSpPr>
          <a:xfrm>
            <a:off x="259766" y="1337370"/>
            <a:ext cx="2490515" cy="1605439"/>
            <a:chOff x="340731" y="2152754"/>
            <a:chExt cx="3930116" cy="1930775"/>
          </a:xfrm>
        </p:grpSpPr>
        <p:sp>
          <p:nvSpPr>
            <p:cNvPr id="216" name="Google Shape;216;p28"/>
            <p:cNvSpPr txBox="1"/>
            <p:nvPr/>
          </p:nvSpPr>
          <p:spPr>
            <a:xfrm>
              <a:off x="340731" y="2152754"/>
              <a:ext cx="3930000" cy="624000"/>
            </a:xfrm>
            <a:prstGeom prst="rect">
              <a:avLst/>
            </a:prstGeom>
            <a:solidFill>
              <a:srgbClr val="C7FFED"/>
            </a:solidFill>
            <a:ln>
              <a:noFill/>
            </a:ln>
          </p:spPr>
          <p:txBody>
            <a:bodyPr anchorCtr="0" anchor="b" bIns="45700" lIns="0" spcFirstLastPara="1" rIns="0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08F8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Внедрение высокомаржинальных процедур</a:t>
              </a:r>
              <a:endParaRPr sz="200">
                <a:solidFill>
                  <a:srgbClr val="008F8C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7" name="Google Shape;217;p28"/>
            <p:cNvSpPr txBox="1"/>
            <p:nvPr/>
          </p:nvSpPr>
          <p:spPr>
            <a:xfrm>
              <a:off x="340847" y="2836429"/>
              <a:ext cx="3930000" cy="12471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2580000" dist="152400">
                <a:srgbClr val="000000">
                  <a:alpha val="11000"/>
                </a:srgbClr>
              </a:outerShdw>
              <a:reflection blurRad="0" dir="5400000" dist="38100" endA="0" fadeDir="5400012" kx="0" rotWithShape="0" algn="bl" stA="0" stPos="0" sy="-100000" ky="0"/>
            </a:effectLst>
          </p:spPr>
          <p:txBody>
            <a:bodyPr anchorCtr="0" anchor="t" bIns="45700" lIns="0" spcFirstLastPara="1" rIns="0" wrap="square" tIns="45700">
              <a:no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95959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Ermöglicht die Steigerung der Rentabilität der Praxis durch hochprofitable Leistungen und verbessert die Finanzkennzahlen ohne signifikanten Anstieg der Materialkosten. </a:t>
              </a:r>
              <a:endParaRPr sz="1100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18" name="Google Shape;218;p28"/>
          <p:cNvSpPr/>
          <p:nvPr/>
        </p:nvSpPr>
        <p:spPr>
          <a:xfrm>
            <a:off x="3261862" y="1877517"/>
            <a:ext cx="76144" cy="845723"/>
          </a:xfrm>
          <a:custGeom>
            <a:rect b="b" l="l" r="r" t="t"/>
            <a:pathLst>
              <a:path extrusionOk="0" h="1037697" w="2030510">
                <a:moveTo>
                  <a:pt x="0" y="0"/>
                </a:moveTo>
                <a:lnTo>
                  <a:pt x="13592" y="2744"/>
                </a:lnTo>
                <a:lnTo>
                  <a:pt x="93270" y="2744"/>
                </a:lnTo>
                <a:lnTo>
                  <a:pt x="118036" y="2744"/>
                </a:lnTo>
                <a:lnTo>
                  <a:pt x="2030510" y="2744"/>
                </a:lnTo>
                <a:lnTo>
                  <a:pt x="2030510" y="1037697"/>
                </a:lnTo>
                <a:lnTo>
                  <a:pt x="0" y="103769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4710"/>
            </a:srgbClr>
          </a:solidFill>
          <a:ln>
            <a:noFill/>
          </a:ln>
          <a:effectLst>
            <a:outerShdw blurRad="57150" rotWithShape="0" algn="bl" dir="5400000" dist="57150">
              <a:srgbClr val="F1E398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3261862" y="2895316"/>
            <a:ext cx="76144" cy="840310"/>
          </a:xfrm>
          <a:custGeom>
            <a:rect b="b" l="l" r="r" t="t"/>
            <a:pathLst>
              <a:path extrusionOk="0" h="1159048" w="2030510">
                <a:moveTo>
                  <a:pt x="0" y="0"/>
                </a:moveTo>
                <a:lnTo>
                  <a:pt x="2030510" y="0"/>
                </a:lnTo>
                <a:lnTo>
                  <a:pt x="2030510" y="1156304"/>
                </a:lnTo>
                <a:lnTo>
                  <a:pt x="95950" y="1156304"/>
                </a:lnTo>
                <a:lnTo>
                  <a:pt x="61661" y="1156304"/>
                </a:lnTo>
                <a:lnTo>
                  <a:pt x="13592" y="1156304"/>
                </a:lnTo>
                <a:lnTo>
                  <a:pt x="0" y="11590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4710"/>
            </a:srgbClr>
          </a:solidFill>
          <a:ln>
            <a:noFill/>
          </a:ln>
          <a:effectLst>
            <a:outerShdw blurRad="57150" rotWithShape="0" algn="bl" dir="5400000" dist="57150">
              <a:srgbClr val="F1E398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28"/>
          <p:cNvSpPr/>
          <p:nvPr/>
        </p:nvSpPr>
        <p:spPr>
          <a:xfrm>
            <a:off x="5796711" y="1877516"/>
            <a:ext cx="76144" cy="845723"/>
          </a:xfrm>
          <a:custGeom>
            <a:rect b="b" l="l" r="r" t="t"/>
            <a:pathLst>
              <a:path extrusionOk="0" h="1037697" w="2030510">
                <a:moveTo>
                  <a:pt x="0" y="0"/>
                </a:moveTo>
                <a:lnTo>
                  <a:pt x="13592" y="2744"/>
                </a:lnTo>
                <a:lnTo>
                  <a:pt x="93270" y="2744"/>
                </a:lnTo>
                <a:lnTo>
                  <a:pt x="118036" y="2744"/>
                </a:lnTo>
                <a:lnTo>
                  <a:pt x="2030510" y="2744"/>
                </a:lnTo>
                <a:lnTo>
                  <a:pt x="2030510" y="1037697"/>
                </a:lnTo>
                <a:lnTo>
                  <a:pt x="0" y="103769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4710"/>
            </a:srgbClr>
          </a:solidFill>
          <a:ln>
            <a:noFill/>
          </a:ln>
          <a:effectLst>
            <a:outerShdw blurRad="57150" rotWithShape="0" algn="bl" dir="5400000" dist="57150">
              <a:srgbClr val="F1E398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28"/>
          <p:cNvSpPr/>
          <p:nvPr/>
        </p:nvSpPr>
        <p:spPr>
          <a:xfrm>
            <a:off x="5796711" y="2895315"/>
            <a:ext cx="76144" cy="840310"/>
          </a:xfrm>
          <a:custGeom>
            <a:rect b="b" l="l" r="r" t="t"/>
            <a:pathLst>
              <a:path extrusionOk="0" h="1159048" w="2030510">
                <a:moveTo>
                  <a:pt x="0" y="0"/>
                </a:moveTo>
                <a:lnTo>
                  <a:pt x="2030510" y="0"/>
                </a:lnTo>
                <a:lnTo>
                  <a:pt x="2030510" y="1156304"/>
                </a:lnTo>
                <a:lnTo>
                  <a:pt x="95950" y="1156304"/>
                </a:lnTo>
                <a:lnTo>
                  <a:pt x="61661" y="1156304"/>
                </a:lnTo>
                <a:lnTo>
                  <a:pt x="13592" y="1156304"/>
                </a:lnTo>
                <a:lnTo>
                  <a:pt x="0" y="115904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24710"/>
            </a:srgbClr>
          </a:solidFill>
          <a:ln>
            <a:noFill/>
          </a:ln>
          <a:effectLst>
            <a:outerShdw blurRad="57150" rotWithShape="0" algn="bl" dir="5400000" dist="57150">
              <a:srgbClr val="F1E398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999675" y="284475"/>
            <a:ext cx="7058700" cy="580200"/>
          </a:xfrm>
          <a:prstGeom prst="roundRect">
            <a:avLst>
              <a:gd fmla="val 16667" name="adj"/>
            </a:avLst>
          </a:prstGeom>
          <a:solidFill>
            <a:srgbClr val="FFFFFF">
              <a:alpha val="30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71525" rotWithShape="0" algn="bl" dir="6180000" dist="171450">
              <a:srgbClr val="000000">
                <a:alpha val="41000"/>
              </a:srgbClr>
            </a:outerShdw>
            <a:reflection blurRad="0" dir="5400000" dist="36195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23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Schlüsselschritte und Hypothesen für den Erfolg </a:t>
            </a:r>
            <a:endParaRPr b="1" sz="2000">
              <a:solidFill>
                <a:srgbClr val="02353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3" name="Google Shape;223;p28" title="pngwing.com (2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2269" y="89050"/>
            <a:ext cx="1353779" cy="95521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/>
        </p:nvSpPr>
        <p:spPr>
          <a:xfrm>
            <a:off x="302925" y="3131501"/>
            <a:ext cx="2404200" cy="580200"/>
          </a:xfrm>
          <a:prstGeom prst="rect">
            <a:avLst/>
          </a:prstGeom>
          <a:solidFill>
            <a:srgbClr val="008F8C"/>
          </a:solidFill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7FF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Einstellung eines </a:t>
            </a:r>
            <a:r>
              <a:rPr b="1" lang="en" sz="1200">
                <a:solidFill>
                  <a:srgbClr val="C7FF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Allgemeinmediziners / </a:t>
            </a:r>
            <a:r>
              <a:rPr b="1" lang="en" sz="1200">
                <a:solidFill>
                  <a:srgbClr val="C7FFE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mit niedrigerem Gehalt </a:t>
            </a:r>
            <a:endParaRPr sz="200">
              <a:solidFill>
                <a:srgbClr val="C7FFED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302934" y="3810069"/>
            <a:ext cx="2404200" cy="1020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580000" dist="152400">
              <a:srgbClr val="000000">
                <a:alpha val="11000"/>
              </a:srgbClr>
            </a:outerShdw>
            <a:reflection blurRad="0" dir="5400000" dist="38100" endA="0" fadeDir="5400012" kx="0" rotWithShape="0" algn="bl" stA="0" stPos="0" sy="-100000" ky="0"/>
          </a:effectLst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Senkt die Personalkosten, stellt die Durchführung zusätzlicher Behandlungen sicher und entlastet hochqualifizierte Fachkräfte. </a:t>
            </a:r>
            <a:endParaRPr sz="1100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6" name="Google Shape;226;p28"/>
          <p:cNvSpPr txBox="1"/>
          <p:nvPr/>
        </p:nvSpPr>
        <p:spPr>
          <a:xfrm>
            <a:off x="259775" y="1337375"/>
            <a:ext cx="2533200" cy="519000"/>
          </a:xfrm>
          <a:prstGeom prst="rect">
            <a:avLst/>
          </a:prstGeom>
          <a:solidFill>
            <a:srgbClr val="C7FFED"/>
          </a:solidFill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Einführung von hochmargigen Behandlungen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200">
              <a:solidFill>
                <a:srgbClr val="008F8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6263241" y="1337370"/>
            <a:ext cx="2490300" cy="519000"/>
          </a:xfrm>
          <a:prstGeom prst="rect">
            <a:avLst/>
          </a:prstGeom>
          <a:solidFill>
            <a:srgbClr val="D8FFDB"/>
          </a:solidFill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23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Reduzierung der Arbeitsbelastung des vorhandenen Ärzteteams </a:t>
            </a:r>
            <a:endParaRPr sz="200">
              <a:solidFill>
                <a:srgbClr val="02353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8" name="Google Shape;228;p28"/>
          <p:cNvSpPr txBox="1"/>
          <p:nvPr/>
        </p:nvSpPr>
        <p:spPr>
          <a:xfrm>
            <a:off x="6344666" y="3232945"/>
            <a:ext cx="2490300" cy="519000"/>
          </a:xfrm>
          <a:prstGeom prst="rect">
            <a:avLst/>
          </a:prstGeom>
          <a:solidFill>
            <a:srgbClr val="023535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8FF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Steigerung des durchschnittlichen Rechnungsbetrags</a:t>
            </a:r>
            <a:endParaRPr sz="200">
              <a:solidFill>
                <a:srgbClr val="D8FFD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6267540" y="1884271"/>
            <a:ext cx="2490300" cy="1037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580000" dist="152400">
              <a:srgbClr val="000000">
                <a:alpha val="11000"/>
              </a:srgbClr>
            </a:outerShdw>
            <a:reflection blurRad="0" dir="5400000" dist="38100" endA="0" fadeDir="5400012" kx="0" rotWithShape="0" algn="bl" stA="0" stPos="0" sy="-100000" ky="0"/>
          </a:effectLst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Позволит повысить качество обслуживания и увеличить количество пациентов благодаря более эффективному использованию ресурсов.</a:t>
            </a:r>
            <a:endParaRPr sz="1100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6344665" y="3761408"/>
            <a:ext cx="2490300" cy="1037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2580000" dist="152400">
              <a:srgbClr val="000000">
                <a:alpha val="11000"/>
              </a:srgbClr>
            </a:outerShdw>
            <a:reflection blurRad="0" dir="5400000" dist="38100" endA="0" fadeDir="5400012" kx="0" rotWithShape="0" algn="bl" stA="0" stPos="0" sy="-100000" ky="0"/>
          </a:effectLst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Erhöht den durchschnittlichen Umsatz pro Patient und trägt so zum Gesamtwachstum des Praxisgewinns bei.</a:t>
            </a:r>
            <a:endParaRPr sz="1100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31" name="Google Shape;231;p28" title="pngwing.com (2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5759" y="2010461"/>
            <a:ext cx="580200" cy="5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8" title="pngwing.com (28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533775" y="2968089"/>
            <a:ext cx="694775" cy="69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8" title="pngwing.com (29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11724" y="3025373"/>
            <a:ext cx="1019507" cy="5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8" title="pngwing.com (30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45051" y="2041050"/>
            <a:ext cx="773400" cy="580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8" title="pngwing.com (6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72450" y="4636463"/>
            <a:ext cx="447125" cy="4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/>
          <p:nvPr>
            <p:ph type="title"/>
          </p:nvPr>
        </p:nvSpPr>
        <p:spPr>
          <a:xfrm>
            <a:off x="329125" y="223825"/>
            <a:ext cx="6108900" cy="461100"/>
          </a:xfrm>
          <a:prstGeom prst="rect">
            <a:avLst/>
          </a:prstGeom>
          <a:effectLst>
            <a:outerShdw blurRad="57150" rotWithShape="0" algn="bl" dir="5400000" dist="1714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Finanzwachstum inkl. neuem Arzt </a:t>
            </a:r>
            <a:r>
              <a:rPr b="1" lang="en" sz="1900">
                <a:solidFill>
                  <a:srgbClr val="07376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en" sz="1900">
                <a:solidFill>
                  <a:srgbClr val="07376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📈 </a:t>
            </a:r>
            <a:endParaRPr b="1" sz="2980">
              <a:solidFill>
                <a:srgbClr val="07376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41" name="Google Shape;241;p29"/>
          <p:cNvGraphicFramePr/>
          <p:nvPr/>
        </p:nvGraphicFramePr>
        <p:xfrm>
          <a:off x="389050" y="1110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{1813A5F1-0005-496A-BFCE-87083AB42A85}</a:tableStyleId>
              </a:tblPr>
              <a:tblGrid>
                <a:gridCol w="1322750"/>
                <a:gridCol w="906000"/>
                <a:gridCol w="906000"/>
                <a:gridCol w="906000"/>
                <a:gridCol w="906000"/>
                <a:gridCol w="1123450"/>
                <a:gridCol w="906000"/>
              </a:tblGrid>
              <a:tr h="272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Zeitraum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AE7D"/>
                    </a:solidFill>
                  </a:tcPr>
                </a:tc>
              </a:tr>
              <a:tr h="311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Rechnungsbetrag (ACV) </a:t>
                      </a:r>
                      <a:endParaRPr sz="11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€235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€235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€235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€235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€235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€235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8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Besuche </a:t>
                      </a:r>
                      <a:endParaRPr sz="11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486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522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562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604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649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698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Umsatz</a:t>
                      </a:r>
                      <a:endParaRPr sz="11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€114,210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€122,670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€132,070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€141,940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€152,515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€164,030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Personal </a:t>
                      </a:r>
                      <a:endParaRPr sz="11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€41,400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€41,400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€41,400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€41,400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€41,400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€41,400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8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Diensleistungen</a:t>
                      </a:r>
                      <a:endParaRPr sz="11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€39,434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€41,997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€44,727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€47,634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€50,730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€54,028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8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Gewinn </a:t>
                      </a:r>
                      <a:endParaRPr sz="11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-€1,624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€4,273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€10,943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€17,906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€25,385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€33,602</a:t>
                      </a:r>
                      <a:endParaRPr sz="1100">
                        <a:solidFill>
                          <a:srgbClr val="073763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Gesamt </a:t>
                      </a:r>
                      <a:endParaRPr sz="11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C0000"/>
                          </a:solidFill>
                          <a:latin typeface="Lexend SemiBold"/>
                          <a:ea typeface="Lexend SemiBold"/>
                          <a:cs typeface="Lexend SemiBold"/>
                          <a:sym typeface="Lexend SemiBold"/>
                        </a:rPr>
                        <a:t>-€72,182</a:t>
                      </a:r>
                      <a:endParaRPr sz="1100">
                        <a:solidFill>
                          <a:srgbClr val="CC0000"/>
                        </a:solidFill>
                        <a:latin typeface="Lexend SemiBold"/>
                        <a:ea typeface="Lexend SemiBold"/>
                        <a:cs typeface="Lexend SemiBold"/>
                        <a:sym typeface="Lexend SemiBol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C0000"/>
                          </a:solidFill>
                          <a:latin typeface="Lexend SemiBold"/>
                          <a:ea typeface="Lexend SemiBold"/>
                          <a:cs typeface="Lexend SemiBold"/>
                          <a:sym typeface="Lexend SemiBold"/>
                        </a:rPr>
                        <a:t>-€67,909</a:t>
                      </a:r>
                      <a:endParaRPr sz="1100">
                        <a:solidFill>
                          <a:srgbClr val="CC0000"/>
                        </a:solidFill>
                        <a:latin typeface="Lexend SemiBold"/>
                        <a:ea typeface="Lexend SemiBold"/>
                        <a:cs typeface="Lexend SemiBold"/>
                        <a:sym typeface="Lexend SemiBol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C0000"/>
                          </a:solidFill>
                          <a:latin typeface="Lexend SemiBold"/>
                          <a:ea typeface="Lexend SemiBold"/>
                          <a:cs typeface="Lexend SemiBold"/>
                          <a:sym typeface="Lexend SemiBold"/>
                        </a:rPr>
                        <a:t>-€56,965</a:t>
                      </a:r>
                      <a:endParaRPr sz="1100">
                        <a:solidFill>
                          <a:srgbClr val="CC0000"/>
                        </a:solidFill>
                        <a:latin typeface="Lexend SemiBold"/>
                        <a:ea typeface="Lexend SemiBold"/>
                        <a:cs typeface="Lexend SemiBold"/>
                        <a:sym typeface="Lexend SemiBol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C0000"/>
                          </a:solidFill>
                          <a:latin typeface="Lexend SemiBold"/>
                          <a:ea typeface="Lexend SemiBold"/>
                          <a:cs typeface="Lexend SemiBold"/>
                          <a:sym typeface="Lexend SemiBold"/>
                        </a:rPr>
                        <a:t>-€39,059</a:t>
                      </a:r>
                      <a:endParaRPr sz="1100">
                        <a:solidFill>
                          <a:srgbClr val="CC0000"/>
                        </a:solidFill>
                        <a:latin typeface="Lexend SemiBold"/>
                        <a:ea typeface="Lexend SemiBold"/>
                        <a:cs typeface="Lexend SemiBold"/>
                        <a:sym typeface="Lexend SemiBol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C0000"/>
                          </a:solidFill>
                          <a:latin typeface="Lexend SemiBold"/>
                          <a:ea typeface="Lexend SemiBold"/>
                          <a:cs typeface="Lexend SemiBold"/>
                          <a:sym typeface="Lexend SemiBold"/>
                        </a:rPr>
                        <a:t>-€13,675</a:t>
                      </a:r>
                      <a:endParaRPr sz="1100">
                        <a:solidFill>
                          <a:srgbClr val="CC0000"/>
                        </a:solidFill>
                        <a:latin typeface="Lexend SemiBold"/>
                        <a:ea typeface="Lexend SemiBold"/>
                        <a:cs typeface="Lexend SemiBold"/>
                        <a:sym typeface="Lexend SemiBol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€19,928</a:t>
                      </a:r>
                      <a:endParaRPr b="1" sz="1100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240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p29"/>
          <p:cNvSpPr/>
          <p:nvPr/>
        </p:nvSpPr>
        <p:spPr>
          <a:xfrm>
            <a:off x="5645350" y="3191122"/>
            <a:ext cx="2886875" cy="882175"/>
          </a:xfrm>
          <a:custGeom>
            <a:rect b="b" l="l" r="r" t="t"/>
            <a:pathLst>
              <a:path extrusionOk="0" h="35287" w="115475">
                <a:moveTo>
                  <a:pt x="70750" y="478"/>
                </a:moveTo>
                <a:cubicBezTo>
                  <a:pt x="76976" y="525"/>
                  <a:pt x="101360" y="-795"/>
                  <a:pt x="108105" y="761"/>
                </a:cubicBezTo>
                <a:cubicBezTo>
                  <a:pt x="114850" y="2318"/>
                  <a:pt x="119095" y="4817"/>
                  <a:pt x="111218" y="9817"/>
                </a:cubicBezTo>
                <a:cubicBezTo>
                  <a:pt x="103341" y="14817"/>
                  <a:pt x="79381" y="26514"/>
                  <a:pt x="60845" y="30759"/>
                </a:cubicBezTo>
                <a:cubicBezTo>
                  <a:pt x="42309" y="35004"/>
                  <a:pt x="10141" y="34532"/>
                  <a:pt x="0" y="35287"/>
                </a:cubicBezTo>
              </a:path>
            </a:pathLst>
          </a:custGeom>
          <a:noFill/>
          <a:ln cap="flat" cmpd="sng" w="28575">
            <a:solidFill>
              <a:srgbClr val="7EAE7D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243" name="Google Shape;243;p29"/>
          <p:cNvSpPr txBox="1"/>
          <p:nvPr/>
        </p:nvSpPr>
        <p:spPr>
          <a:xfrm>
            <a:off x="389050" y="3747850"/>
            <a:ext cx="54969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7376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Kumulierter Ertrag wird bereits im 18. Monat positiv: </a:t>
            </a:r>
            <a:endParaRPr b="1" sz="1100">
              <a:solidFill>
                <a:srgbClr val="07376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7376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von -72.182 € auf +19.928 €. Dies bestätigt:</a:t>
            </a:r>
            <a:endParaRPr b="1" sz="1100">
              <a:solidFill>
                <a:srgbClr val="07376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7376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📌 Die Strategie der Expansion und Kostenoptimierung greift effektiv. </a:t>
            </a:r>
            <a:endParaRPr b="1" sz="1100">
              <a:solidFill>
                <a:srgbClr val="07376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7376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4" name="Google Shape;244;p29" title="pngwing.com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2450" y="4636463"/>
            <a:ext cx="447125" cy="4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/>
          <p:nvPr>
            <p:ph type="title"/>
          </p:nvPr>
        </p:nvSpPr>
        <p:spPr>
          <a:xfrm>
            <a:off x="368925" y="280425"/>
            <a:ext cx="7936500" cy="461100"/>
          </a:xfrm>
          <a:prstGeom prst="rect">
            <a:avLst/>
          </a:prstGeom>
          <a:effectLst>
            <a:outerShdw blurRad="57150" rotWithShape="0" algn="bl" dir="5400000" dist="1714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7376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Gewinnanalyse bei +10 % Ø Rechnungsbetrag </a:t>
            </a:r>
            <a:r>
              <a:rPr lang="en" sz="1900">
                <a:solidFill>
                  <a:srgbClr val="07376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📈</a:t>
            </a:r>
            <a:endParaRPr b="1" sz="1900">
              <a:solidFill>
                <a:srgbClr val="07376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50" name="Google Shape;250;p30"/>
          <p:cNvGraphicFramePr/>
          <p:nvPr/>
        </p:nvGraphicFramePr>
        <p:xfrm>
          <a:off x="548575" y="105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{1813A5F1-0005-496A-BFCE-87083AB42A85}</a:tableStyleId>
              </a:tblPr>
              <a:tblGrid>
                <a:gridCol w="1264550"/>
                <a:gridCol w="866125"/>
                <a:gridCol w="866125"/>
                <a:gridCol w="866125"/>
                <a:gridCol w="866125"/>
                <a:gridCol w="1074000"/>
                <a:gridCol w="866125"/>
              </a:tblGrid>
              <a:tr h="22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Zeitraum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AE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AE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AE7D"/>
                    </a:solidFill>
                  </a:tcPr>
                </a:tc>
              </a:tr>
              <a:tr h="22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Rechnungsbetrag (ACV) 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€259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€259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€259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€259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€259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€259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Besuche 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649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Umsatz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€125,874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€135,198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€145,558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€156,436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€168,091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€180,782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Operative Betriebsausgaben </a:t>
                      </a:r>
                      <a:endParaRPr sz="11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€35,000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€35,000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€35,000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€35,000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€35,000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€35,000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Personal 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€41,400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€41,400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€41,400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€41,400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€41,400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€41,400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Diensleistungen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€39,434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€41,997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€44,727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€47,634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€50,730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€54,028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Gewinn </a:t>
                      </a:r>
                      <a:endParaRPr sz="11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€10,040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€16,801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€24,431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€32,402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€40,961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€50,354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Gesamt </a:t>
                      </a:r>
                      <a:endParaRPr sz="1100">
                        <a:solidFill>
                          <a:srgbClr val="073763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A61C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-€60,518</a:t>
                      </a:r>
                      <a:endParaRPr b="1" sz="1100">
                        <a:solidFill>
                          <a:srgbClr val="A61C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A61C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-€43,717</a:t>
                      </a:r>
                      <a:endParaRPr b="1" sz="1100">
                        <a:solidFill>
                          <a:srgbClr val="A61C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A61C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-€19,285</a:t>
                      </a:r>
                      <a:endParaRPr b="1" sz="1100">
                        <a:solidFill>
                          <a:srgbClr val="A61C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€13,117</a:t>
                      </a:r>
                      <a:endParaRPr b="1" sz="1100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€54,077</a:t>
                      </a:r>
                      <a:endParaRPr b="1" sz="1100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38761D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€104,432</a:t>
                      </a:r>
                      <a:endParaRPr b="1" sz="1100">
                        <a:solidFill>
                          <a:srgbClr val="38761D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30"/>
          <p:cNvSpPr/>
          <p:nvPr/>
        </p:nvSpPr>
        <p:spPr>
          <a:xfrm>
            <a:off x="5619750" y="3090822"/>
            <a:ext cx="2886875" cy="882175"/>
          </a:xfrm>
          <a:custGeom>
            <a:rect b="b" l="l" r="r" t="t"/>
            <a:pathLst>
              <a:path extrusionOk="0" h="35287" w="115475">
                <a:moveTo>
                  <a:pt x="70750" y="478"/>
                </a:moveTo>
                <a:cubicBezTo>
                  <a:pt x="76976" y="525"/>
                  <a:pt x="101360" y="-795"/>
                  <a:pt x="108105" y="761"/>
                </a:cubicBezTo>
                <a:cubicBezTo>
                  <a:pt x="114850" y="2318"/>
                  <a:pt x="119095" y="4817"/>
                  <a:pt x="111218" y="9817"/>
                </a:cubicBezTo>
                <a:cubicBezTo>
                  <a:pt x="103341" y="14817"/>
                  <a:pt x="79381" y="26514"/>
                  <a:pt x="60845" y="30759"/>
                </a:cubicBezTo>
                <a:cubicBezTo>
                  <a:pt x="42309" y="35004"/>
                  <a:pt x="10141" y="34532"/>
                  <a:pt x="0" y="35287"/>
                </a:cubicBezTo>
              </a:path>
            </a:pathLst>
          </a:custGeom>
          <a:noFill/>
          <a:ln cap="flat" cmpd="sng" w="28575">
            <a:solidFill>
              <a:srgbClr val="7EAE7D"/>
            </a:solidFill>
            <a:prstDash val="dash"/>
            <a:round/>
            <a:headEnd len="med" w="med" type="none"/>
            <a:tailEnd len="med" w="med" type="triangle"/>
          </a:ln>
        </p:spPr>
      </p:sp>
      <p:sp>
        <p:nvSpPr>
          <p:cNvPr id="252" name="Google Shape;252;p30"/>
          <p:cNvSpPr txBox="1"/>
          <p:nvPr/>
        </p:nvSpPr>
        <p:spPr>
          <a:xfrm>
            <a:off x="586750" y="3629450"/>
            <a:ext cx="489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00">
                <a:solidFill>
                  <a:srgbClr val="07376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 der 14. Periode wird der Gewinn positiv (4.273 €) und setzt seinen Wachstumskurs fort. </a:t>
            </a:r>
            <a:endParaRPr sz="1800">
              <a:solidFill>
                <a:srgbClr val="07376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3" name="Google Shape;253;p30" title="pngwing.com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2450" y="4636463"/>
            <a:ext cx="447125" cy="447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30">
            <a:hlinkClick action="ppaction://hlinksldjump" r:id="rId4"/>
          </p:cNvPr>
          <p:cNvCxnSpPr/>
          <p:nvPr/>
        </p:nvCxnSpPr>
        <p:spPr>
          <a:xfrm>
            <a:off x="326500" y="4826475"/>
            <a:ext cx="3981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1" title="Динамика доходов, расходов и прибыли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50" y="2007400"/>
            <a:ext cx="4227859" cy="2552674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2340000" dist="123825">
              <a:srgbClr val="000000">
                <a:alpha val="60000"/>
              </a:srgbClr>
            </a:outerShdw>
          </a:effectLst>
        </p:spPr>
      </p:pic>
      <p:sp>
        <p:nvSpPr>
          <p:cNvPr id="260" name="Google Shape;260;p31"/>
          <p:cNvSpPr/>
          <p:nvPr/>
        </p:nvSpPr>
        <p:spPr>
          <a:xfrm>
            <a:off x="396388" y="358913"/>
            <a:ext cx="3873900" cy="707400"/>
          </a:xfrm>
          <a:prstGeom prst="roundRect">
            <a:avLst>
              <a:gd fmla="val 16667" name="adj"/>
            </a:avLst>
          </a:prstGeom>
          <a:solidFill>
            <a:srgbClr val="FFFFFF">
              <a:alpha val="30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71525" rotWithShape="0" algn="bl" dir="6180000" dist="171450">
              <a:srgbClr val="000000">
                <a:alpha val="41000"/>
              </a:srgbClr>
            </a:outerShdw>
            <a:reflection blurRad="0" dir="5400000" dist="36195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700">
                <a:latin typeface="Helvetica Neue"/>
                <a:ea typeface="Helvetica Neue"/>
                <a:cs typeface="Helvetica Neue"/>
                <a:sym typeface="Helvetica Neue"/>
              </a:rPr>
              <a:t>Dynamik von Einnahmen, Ausgaben und Gewinn 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1" name="Google Shape;261;p31"/>
          <p:cNvSpPr/>
          <p:nvPr/>
        </p:nvSpPr>
        <p:spPr>
          <a:xfrm>
            <a:off x="4834575" y="358925"/>
            <a:ext cx="3873900" cy="707400"/>
          </a:xfrm>
          <a:prstGeom prst="roundRect">
            <a:avLst>
              <a:gd fmla="val 16667" name="adj"/>
            </a:avLst>
          </a:prstGeom>
          <a:solidFill>
            <a:srgbClr val="FFFFFF">
              <a:alpha val="30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71525" rotWithShape="0" algn="bl" dir="6180000" dist="171450">
              <a:srgbClr val="000000">
                <a:alpha val="41000"/>
              </a:srgbClr>
            </a:outerShdw>
            <a:reflection blurRad="0" dir="5400000" dist="36195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1"/>
          <p:cNvSpPr txBox="1"/>
          <p:nvPr>
            <p:ph type="title"/>
          </p:nvPr>
        </p:nvSpPr>
        <p:spPr>
          <a:xfrm>
            <a:off x="4421875" y="429675"/>
            <a:ext cx="46332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707">
                <a:solidFill>
                  <a:srgbClr val="CF830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Gesamteinnahmen </a:t>
            </a:r>
            <a:endParaRPr b="1" sz="2220">
              <a:solidFill>
                <a:srgbClr val="CF8303"/>
              </a:solidFill>
            </a:endParaRPr>
          </a:p>
        </p:txBody>
      </p:sp>
      <p:pic>
        <p:nvPicPr>
          <p:cNvPr id="263" name="Google Shape;263;p31" title="Сумарный доход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083" y="2150575"/>
            <a:ext cx="3874785" cy="2409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cxnSp>
        <p:nvCxnSpPr>
          <p:cNvPr id="264" name="Google Shape;264;p31"/>
          <p:cNvCxnSpPr/>
          <p:nvPr/>
        </p:nvCxnSpPr>
        <p:spPr>
          <a:xfrm flipH="1" rot="-5400000">
            <a:off x="5907200" y="1194375"/>
            <a:ext cx="657900" cy="6156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CF830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1"/>
          <p:cNvCxnSpPr/>
          <p:nvPr/>
        </p:nvCxnSpPr>
        <p:spPr>
          <a:xfrm rot="5400000">
            <a:off x="7064375" y="1211650"/>
            <a:ext cx="689100" cy="6123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CF830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31"/>
          <p:cNvCxnSpPr/>
          <p:nvPr/>
        </p:nvCxnSpPr>
        <p:spPr>
          <a:xfrm flipH="1" rot="-5400000">
            <a:off x="1453800" y="1194388"/>
            <a:ext cx="657900" cy="6156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1"/>
          <p:cNvCxnSpPr/>
          <p:nvPr/>
        </p:nvCxnSpPr>
        <p:spPr>
          <a:xfrm rot="5400000">
            <a:off x="2603900" y="1211650"/>
            <a:ext cx="689100" cy="612300"/>
          </a:xfrm>
          <a:prstGeom prst="curvedConnector3">
            <a:avLst>
              <a:gd fmla="val 51030" name="adj1"/>
            </a:avLst>
          </a:prstGeom>
          <a:noFill/>
          <a:ln cap="flat" cmpd="sng" w="3810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8" name="Google Shape;268;p31"/>
          <p:cNvSpPr txBox="1"/>
          <p:nvPr/>
        </p:nvSpPr>
        <p:spPr>
          <a:xfrm>
            <a:off x="8279262" y="3814061"/>
            <a:ext cx="8331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-73,940 €</a:t>
            </a:r>
            <a:endParaRPr sz="1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9" name="Google Shape;269;p31"/>
          <p:cNvCxnSpPr/>
          <p:nvPr/>
        </p:nvCxnSpPr>
        <p:spPr>
          <a:xfrm>
            <a:off x="8122481" y="3918030"/>
            <a:ext cx="207000" cy="54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" name="Google Shape;270;p31"/>
          <p:cNvSpPr txBox="1"/>
          <p:nvPr/>
        </p:nvSpPr>
        <p:spPr>
          <a:xfrm>
            <a:off x="4295850" y="3636450"/>
            <a:ext cx="7038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4E13"/>
                </a:solidFill>
                <a:latin typeface="Lexend"/>
                <a:ea typeface="Lexend"/>
                <a:cs typeface="Lexend"/>
                <a:sym typeface="Lexend"/>
              </a:rPr>
              <a:t>+3,382</a:t>
            </a:r>
            <a:r>
              <a:rPr lang="en" sz="1000">
                <a:solidFill>
                  <a:srgbClr val="274E13"/>
                </a:solidFill>
                <a:latin typeface="Lexend"/>
                <a:ea typeface="Lexend"/>
                <a:cs typeface="Lexend"/>
                <a:sym typeface="Lexend"/>
              </a:rPr>
              <a:t>€</a:t>
            </a:r>
            <a:endParaRPr sz="1000">
              <a:solidFill>
                <a:srgbClr val="274E1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1" name="Google Shape;271;p31"/>
          <p:cNvCxnSpPr/>
          <p:nvPr/>
        </p:nvCxnSpPr>
        <p:spPr>
          <a:xfrm>
            <a:off x="4271007" y="3636450"/>
            <a:ext cx="141600" cy="98400"/>
          </a:xfrm>
          <a:prstGeom prst="straightConnector1">
            <a:avLst/>
          </a:prstGeom>
          <a:noFill/>
          <a:ln cap="flat" cmpd="sng" w="9525">
            <a:solidFill>
              <a:srgbClr val="274E1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31">
            <a:hlinkClick action="ppaction://hlinksldjump" r:id="rId5"/>
          </p:cNvPr>
          <p:cNvCxnSpPr/>
          <p:nvPr/>
        </p:nvCxnSpPr>
        <p:spPr>
          <a:xfrm rot="10800000">
            <a:off x="204850" y="4816175"/>
            <a:ext cx="38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2" title="Количество клиентов по каждому доктору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0613" y="1901775"/>
            <a:ext cx="6334274" cy="2848025"/>
          </a:xfrm>
          <a:prstGeom prst="rect">
            <a:avLst/>
          </a:prstGeom>
          <a:noFill/>
          <a:ln>
            <a:noFill/>
          </a:ln>
          <a:effectLst>
            <a:outerShdw blurRad="14288" rotWithShape="0" algn="bl" dir="9840000" dist="66675">
              <a:srgbClr val="000000">
                <a:alpha val="11000"/>
              </a:srgbClr>
            </a:outerShdw>
            <a:reflection blurRad="0" dir="0" dist="0" endA="0" endPos="30000" fadeDir="5400012" kx="0" rotWithShape="0" algn="bl" stA="0" stPos="0" sy="-100000" ky="0"/>
          </a:effectLst>
        </p:spPr>
      </p:pic>
      <p:sp>
        <p:nvSpPr>
          <p:cNvPr id="278" name="Google Shape;278;p32"/>
          <p:cNvSpPr/>
          <p:nvPr/>
        </p:nvSpPr>
        <p:spPr>
          <a:xfrm>
            <a:off x="2818813" y="468875"/>
            <a:ext cx="3873900" cy="707400"/>
          </a:xfrm>
          <a:prstGeom prst="roundRect">
            <a:avLst>
              <a:gd fmla="val 16667" name="adj"/>
            </a:avLst>
          </a:prstGeom>
          <a:solidFill>
            <a:srgbClr val="FFFFFF">
              <a:alpha val="30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7238" rotWithShape="0" algn="bl" dir="9540000" dist="171450">
              <a:srgbClr val="000000">
                <a:alpha val="41000"/>
              </a:srgbClr>
            </a:outerShdw>
            <a:reflection blurRad="0" dir="5400000" dist="36195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2"/>
          <p:cNvSpPr txBox="1"/>
          <p:nvPr>
            <p:ph type="title"/>
          </p:nvPr>
        </p:nvSpPr>
        <p:spPr>
          <a:xfrm>
            <a:off x="2879050" y="468875"/>
            <a:ext cx="3622500" cy="5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990">
                <a:solidFill>
                  <a:srgbClr val="7EAE7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Anzahl der Patienten pro Arzt </a:t>
            </a:r>
            <a:endParaRPr sz="3520">
              <a:solidFill>
                <a:srgbClr val="CF8303"/>
              </a:solidFill>
            </a:endParaRPr>
          </a:p>
        </p:txBody>
      </p:sp>
      <p:cxnSp>
        <p:nvCxnSpPr>
          <p:cNvPr id="280" name="Google Shape;280;p32"/>
          <p:cNvCxnSpPr/>
          <p:nvPr/>
        </p:nvCxnSpPr>
        <p:spPr>
          <a:xfrm rot="5400000">
            <a:off x="4959850" y="1248475"/>
            <a:ext cx="689100" cy="612300"/>
          </a:xfrm>
          <a:prstGeom prst="curvedConnector3">
            <a:avLst>
              <a:gd fmla="val 51030" name="adj1"/>
            </a:avLst>
          </a:prstGeom>
          <a:noFill/>
          <a:ln cap="flat" cmpd="sng" w="38100">
            <a:solidFill>
              <a:srgbClr val="7EAE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32"/>
          <p:cNvCxnSpPr/>
          <p:nvPr/>
        </p:nvCxnSpPr>
        <p:spPr>
          <a:xfrm flipH="1" rot="-5400000">
            <a:off x="3866350" y="1231213"/>
            <a:ext cx="657900" cy="6156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7EAE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32">
            <a:hlinkClick action="ppaction://hlinksldjump" r:id="rId4"/>
          </p:cNvPr>
          <p:cNvCxnSpPr/>
          <p:nvPr/>
        </p:nvCxnSpPr>
        <p:spPr>
          <a:xfrm rot="10800000">
            <a:off x="204850" y="4816175"/>
            <a:ext cx="38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3" title="Доход от лечения по докторам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00" y="1943725"/>
            <a:ext cx="4058374" cy="25045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76200">
              <a:srgbClr val="000000">
                <a:alpha val="50000"/>
              </a:srgbClr>
            </a:outerShdw>
            <a:reflection blurRad="0" dir="0" dist="0" endA="0" endPos="30000" fadeDir="5400012" kx="0" rotWithShape="0" algn="bl" stA="0" stPos="0" sy="-100000" ky="0"/>
          </a:effectLst>
        </p:spPr>
      </p:pic>
      <p:pic>
        <p:nvPicPr>
          <p:cNvPr id="288" name="Google Shape;288;p33" title="Общее количество обращений и посещений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2400" y="1888038"/>
            <a:ext cx="4230624" cy="2615925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8700000" dist="76200">
              <a:srgbClr val="000000">
                <a:alpha val="44000"/>
              </a:srgbClr>
            </a:outerShdw>
          </a:effectLst>
        </p:spPr>
      </p:pic>
      <p:sp>
        <p:nvSpPr>
          <p:cNvPr id="289" name="Google Shape;289;p33"/>
          <p:cNvSpPr/>
          <p:nvPr/>
        </p:nvSpPr>
        <p:spPr>
          <a:xfrm>
            <a:off x="432450" y="380150"/>
            <a:ext cx="3873900" cy="707400"/>
          </a:xfrm>
          <a:prstGeom prst="roundRect">
            <a:avLst>
              <a:gd fmla="val 16667" name="adj"/>
            </a:avLst>
          </a:prstGeom>
          <a:solidFill>
            <a:srgbClr val="FFFFFF">
              <a:alpha val="30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71525" rotWithShape="0" algn="bl" dir="6180000" dist="171450">
              <a:srgbClr val="000000">
                <a:alpha val="41000"/>
              </a:srgbClr>
            </a:outerShdw>
            <a:reflection blurRad="0" dir="5400000" dist="36195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700">
                <a:solidFill>
                  <a:srgbClr val="1C9EB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Behandlungsumsatz nach Ärzten </a:t>
            </a:r>
            <a:endParaRPr sz="1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0" name="Google Shape;290;p33"/>
          <p:cNvSpPr/>
          <p:nvPr/>
        </p:nvSpPr>
        <p:spPr>
          <a:xfrm>
            <a:off x="4893500" y="380150"/>
            <a:ext cx="3873900" cy="707400"/>
          </a:xfrm>
          <a:prstGeom prst="roundRect">
            <a:avLst>
              <a:gd fmla="val 16667" name="adj"/>
            </a:avLst>
          </a:prstGeom>
          <a:solidFill>
            <a:srgbClr val="FFFFFF">
              <a:alpha val="306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71525" rotWithShape="0" algn="bl" dir="6180000" dist="171450">
              <a:srgbClr val="000000">
                <a:alpha val="41000"/>
              </a:srgbClr>
            </a:outerShdw>
            <a:reflection blurRad="0" dir="5400000" dist="361950" endA="0" endPos="30000" fadeDir="5400012" kx="0" rotWithShape="0" algn="bl" stA="0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700">
                <a:solidFill>
                  <a:srgbClr val="04232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Gesamtzahl der Anfragen und Patientenbesuche </a:t>
            </a:r>
            <a:endParaRPr sz="17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91" name="Google Shape;291;p33"/>
          <p:cNvCxnSpPr/>
          <p:nvPr/>
        </p:nvCxnSpPr>
        <p:spPr>
          <a:xfrm rot="5400000">
            <a:off x="2610975" y="1232875"/>
            <a:ext cx="689100" cy="612300"/>
          </a:xfrm>
          <a:prstGeom prst="curvedConnector3">
            <a:avLst>
              <a:gd fmla="val 51030" name="adj1"/>
            </a:avLst>
          </a:prstGeom>
          <a:noFill/>
          <a:ln cap="flat" cmpd="sng" w="38100">
            <a:solidFill>
              <a:srgbClr val="1C9EB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33"/>
          <p:cNvCxnSpPr/>
          <p:nvPr/>
        </p:nvCxnSpPr>
        <p:spPr>
          <a:xfrm rot="5400000">
            <a:off x="6774875" y="1181650"/>
            <a:ext cx="689100" cy="612300"/>
          </a:xfrm>
          <a:prstGeom prst="curvedConnector3">
            <a:avLst>
              <a:gd fmla="val 51030" name="adj1"/>
            </a:avLst>
          </a:prstGeom>
          <a:noFill/>
          <a:ln cap="flat" cmpd="sng" w="38100">
            <a:solidFill>
              <a:srgbClr val="04232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3"/>
          <p:cNvCxnSpPr/>
          <p:nvPr/>
        </p:nvCxnSpPr>
        <p:spPr>
          <a:xfrm flipH="1" rot="-5400000">
            <a:off x="1460875" y="1215613"/>
            <a:ext cx="657900" cy="6156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1C9EB8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3"/>
          <p:cNvCxnSpPr/>
          <p:nvPr/>
        </p:nvCxnSpPr>
        <p:spPr>
          <a:xfrm flipH="1" rot="-5400000">
            <a:off x="5815800" y="1179988"/>
            <a:ext cx="657900" cy="6156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04232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3">
            <a:hlinkClick action="ppaction://hlinksldjump" r:id="rId5"/>
          </p:cNvPr>
          <p:cNvCxnSpPr/>
          <p:nvPr/>
        </p:nvCxnSpPr>
        <p:spPr>
          <a:xfrm rot="10800000">
            <a:off x="204850" y="4816175"/>
            <a:ext cx="38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34" title="Flux_Dev_Muted_mint_gradient_background_with_soft_semitranspar_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3700" y="298875"/>
            <a:ext cx="4267199" cy="2411899"/>
          </a:xfrm>
          <a:prstGeom prst="rect">
            <a:avLst/>
          </a:prstGeom>
          <a:noFill/>
          <a:ln>
            <a:noFill/>
          </a:ln>
          <a:effectLst>
            <a:outerShdw blurRad="414338" rotWithShape="0" algn="bl" dir="5400000" dist="142875">
              <a:srgbClr val="FFF2CC">
                <a:alpha val="71000"/>
              </a:srgbClr>
            </a:outerShdw>
          </a:effectLst>
        </p:spPr>
      </p:pic>
      <p:sp>
        <p:nvSpPr>
          <p:cNvPr id="301" name="Google Shape;301;p34"/>
          <p:cNvSpPr txBox="1"/>
          <p:nvPr/>
        </p:nvSpPr>
        <p:spPr>
          <a:xfrm>
            <a:off x="629750" y="2255075"/>
            <a:ext cx="32085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7376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Vielen Dank </a:t>
            </a:r>
            <a:endParaRPr b="1" sz="4000">
              <a:solidFill>
                <a:srgbClr val="07376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p34"/>
          <p:cNvSpPr txBox="1"/>
          <p:nvPr/>
        </p:nvSpPr>
        <p:spPr>
          <a:xfrm>
            <a:off x="593950" y="3099075"/>
            <a:ext cx="65028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7376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für Ihre Aufmerksamkeit! </a:t>
            </a:r>
            <a:endParaRPr b="1" sz="4000">
              <a:solidFill>
                <a:srgbClr val="07376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8ED6C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88AFAB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